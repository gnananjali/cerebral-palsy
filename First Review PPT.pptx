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96" r:id="rId2"/>
    <p:sldId id="305" r:id="rId3"/>
    <p:sldId id="306" r:id="rId4"/>
    <p:sldId id="307" r:id="rId5"/>
    <p:sldId id="308" r:id="rId6"/>
    <p:sldId id="309" r:id="rId7"/>
    <p:sldId id="310" r:id="rId8"/>
    <p:sldId id="311" r:id="rId9"/>
    <p:sldId id="312" r:id="rId10"/>
    <p:sldId id="313" r:id="rId11"/>
    <p:sldId id="314" r:id="rId12"/>
    <p:sldId id="315" r:id="rId13"/>
    <p:sldId id="316" r:id="rId14"/>
    <p:sldId id="321" r:id="rId15"/>
    <p:sldId id="322" r:id="rId16"/>
    <p:sldId id="323" r:id="rId17"/>
    <p:sldId id="324" r:id="rId18"/>
    <p:sldId id="319" r:id="rId19"/>
    <p:sldId id="294"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3192CF-A01B-4276-ACD0-DDE01DFB76E5}" v="16" dt="2026-01-30T05:45:36.84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46" autoAdjust="0"/>
    <p:restoredTop sz="94660"/>
  </p:normalViewPr>
  <p:slideViewPr>
    <p:cSldViewPr>
      <p:cViewPr varScale="1">
        <p:scale>
          <a:sx n="59" d="100"/>
          <a:sy n="59" d="100"/>
        </p:scale>
        <p:origin x="168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F22ADE-7FA5-49E6-9043-10BDBF5D7DE6}" type="datetimeFigureOut">
              <a:rPr lang="en-US" smtClean="0"/>
              <a:t>1/30/2026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2DDBC-ECC6-45F6-AF4C-A3AE10AC7195}" type="slidenum">
              <a:rPr lang="en-US" smtClean="0"/>
              <a:t>‹#›</a:t>
            </a:fld>
            <a:endParaRPr lang="en-US"/>
          </a:p>
        </p:txBody>
      </p:sp>
    </p:spTree>
    <p:extLst>
      <p:ext uri="{BB962C8B-B14F-4D97-AF65-F5344CB8AC3E}">
        <p14:creationId xmlns:p14="http://schemas.microsoft.com/office/powerpoint/2010/main" val="424741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912A5F-7A45-4353-8423-A6DA2D58B628}"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20298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E286-04A7-2838-B2FD-577A3CAB74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68E3B9-A615-A022-E047-CC8B282941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303073-7D80-A71E-1B61-2F5D3F8D8F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290BCB-E156-5850-67EB-069217829B94}"/>
              </a:ext>
            </a:extLst>
          </p:cNvPr>
          <p:cNvSpPr>
            <a:spLocks noGrp="1"/>
          </p:cNvSpPr>
          <p:nvPr>
            <p:ph type="sldNum" sz="quarter" idx="10"/>
          </p:nvPr>
        </p:nvSpPr>
        <p:spPr/>
        <p:txBody>
          <a:bodyPr/>
          <a:lstStyle/>
          <a:p>
            <a:fld id="{97912A5F-7A45-4353-8423-A6DA2D58B628}"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22769438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C26B4-BC90-3602-0E56-3C451055F6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277E2-15C9-AEAB-A1DE-CC106CBE7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5AB6C-0A5D-3A55-6F26-7C291CD6B1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BBFF1A-4E5D-D301-7DDA-86D826D30AEF}"/>
              </a:ext>
            </a:extLst>
          </p:cNvPr>
          <p:cNvSpPr>
            <a:spLocks noGrp="1"/>
          </p:cNvSpPr>
          <p:nvPr>
            <p:ph type="sldNum" sz="quarter" idx="10"/>
          </p:nvPr>
        </p:nvSpPr>
        <p:spPr/>
        <p:txBody>
          <a:bodyPr/>
          <a:lstStyle/>
          <a:p>
            <a:fld id="{97912A5F-7A45-4353-8423-A6DA2D58B628}"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5691276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1/30/2026</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p:split orient="vert"/>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1/30/2026</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transition>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1/30/2026</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transition>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transition>
    <p:split orient="vert"/>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1/30/2026</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split orient="vert"/>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1/30/2026</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transition>
    <p:split orient="ver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1/30/2026</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split orient="vert"/>
  </p:transition>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0"/>
            <a:ext cx="8153400" cy="1219200"/>
          </a:xfrm>
        </p:spPr>
        <p:txBody>
          <a:bodyPr>
            <a:noAutofit/>
          </a:bodyPr>
          <a:lstStyle/>
          <a:p>
            <a:pPr algn="ctr"/>
            <a:r>
              <a:rPr lang="en-US" dirty="0"/>
              <a:t>The Prediction of Cerebral Palsy in Infants</a:t>
            </a:r>
          </a:p>
        </p:txBody>
      </p:sp>
      <p:sp>
        <p:nvSpPr>
          <p:cNvPr id="3" name="Content Placeholder 2"/>
          <p:cNvSpPr>
            <a:spLocks noGrp="1"/>
          </p:cNvSpPr>
          <p:nvPr>
            <p:ph sz="quarter" idx="1"/>
          </p:nvPr>
        </p:nvSpPr>
        <p:spPr>
          <a:xfrm>
            <a:off x="152400" y="1524000"/>
            <a:ext cx="8763000" cy="5334000"/>
          </a:xfrm>
        </p:spPr>
        <p:style>
          <a:lnRef idx="2">
            <a:schemeClr val="accent2"/>
          </a:lnRef>
          <a:fillRef idx="1">
            <a:schemeClr val="lt1"/>
          </a:fillRef>
          <a:effectRef idx="0">
            <a:schemeClr val="accent2"/>
          </a:effectRef>
          <a:fontRef idx="minor">
            <a:schemeClr val="dk1"/>
          </a:fontRef>
        </p:style>
        <p:txBody>
          <a:bodyPr>
            <a:normAutofit fontScale="25000" lnSpcReduction="20000"/>
          </a:bodyPr>
          <a:lstStyle/>
          <a:p>
            <a:pPr algn="ctr">
              <a:buNone/>
            </a:pPr>
            <a:r>
              <a:rPr lang="en-US" sz="4800" b="1" dirty="0"/>
              <a:t>By</a:t>
            </a:r>
          </a:p>
          <a:p>
            <a:pPr algn="ctr">
              <a:buNone/>
              <a:tabLst>
                <a:tab pos="2689225" algn="l"/>
              </a:tabLst>
            </a:pPr>
            <a:r>
              <a:rPr lang="en-US" sz="5600" b="1" dirty="0"/>
              <a:t>Name 1: </a:t>
            </a:r>
            <a:r>
              <a:rPr lang="en-US" sz="5600" b="1" dirty="0" err="1">
                <a:latin typeface="Times New Roman" panose="02020603050405020304" pitchFamily="18" charset="0"/>
                <a:cs typeface="Times New Roman" panose="02020603050405020304" pitchFamily="18" charset="0"/>
              </a:rPr>
              <a:t>Thokala</a:t>
            </a:r>
            <a:r>
              <a:rPr lang="en-US" sz="5600" b="1" dirty="0">
                <a:latin typeface="Times New Roman" panose="02020603050405020304" pitchFamily="18" charset="0"/>
                <a:cs typeface="Times New Roman" panose="02020603050405020304" pitchFamily="18" charset="0"/>
              </a:rPr>
              <a:t> Rohith Sai </a:t>
            </a:r>
            <a:r>
              <a:rPr lang="en-US" sz="5600" b="1" dirty="0"/>
              <a:t>(</a:t>
            </a:r>
            <a:r>
              <a:rPr lang="en-US" sz="5600" b="1" dirty="0">
                <a:latin typeface="Times New Roman" panose="02020603050405020304" pitchFamily="18" charset="0"/>
                <a:cs typeface="Times New Roman" panose="02020603050405020304" pitchFamily="18" charset="0"/>
              </a:rPr>
              <a:t>22BFA33321</a:t>
            </a:r>
            <a:r>
              <a:rPr lang="en-US" sz="5600" b="1" dirty="0"/>
              <a:t>)</a:t>
            </a:r>
            <a:endParaRPr lang="en-US" sz="5600" dirty="0"/>
          </a:p>
          <a:p>
            <a:pPr algn="ctr">
              <a:buNone/>
            </a:pPr>
            <a:r>
              <a:rPr lang="en-US" sz="5600" b="1" dirty="0"/>
              <a:t>Name 2: </a:t>
            </a:r>
            <a:r>
              <a:rPr lang="en-US" sz="5600" b="1" dirty="0">
                <a:latin typeface="Times New Roman" panose="02020603050405020304" pitchFamily="18" charset="0"/>
                <a:cs typeface="Times New Roman" panose="02020603050405020304" pitchFamily="18" charset="0"/>
              </a:rPr>
              <a:t>Kavali Gnananjali(23BFA33L11)</a:t>
            </a:r>
          </a:p>
          <a:p>
            <a:pPr algn="ctr">
              <a:buNone/>
            </a:pPr>
            <a:r>
              <a:rPr lang="en-US" sz="5600" b="1" dirty="0"/>
              <a:t>      Name 3: </a:t>
            </a:r>
            <a:r>
              <a:rPr lang="en-US" sz="5600" b="1" dirty="0">
                <a:latin typeface="Times New Roman" panose="02020603050405020304" pitchFamily="18" charset="0"/>
                <a:cs typeface="Times New Roman" panose="02020603050405020304" pitchFamily="18" charset="0"/>
              </a:rPr>
              <a:t>Bhukya Kiran Kumar (22BFA33285)</a:t>
            </a:r>
            <a:endParaRPr lang="en-US" sz="5600" dirty="0">
              <a:latin typeface="Times New Roman" panose="02020603050405020304" pitchFamily="18" charset="0"/>
              <a:cs typeface="Times New Roman" panose="02020603050405020304" pitchFamily="18" charset="0"/>
            </a:endParaRPr>
          </a:p>
          <a:p>
            <a:pPr algn="ctr">
              <a:buNone/>
            </a:pPr>
            <a:r>
              <a:rPr lang="en-US" sz="5600" b="1" dirty="0"/>
              <a:t>    Name 4: </a:t>
            </a:r>
            <a:r>
              <a:rPr lang="en-US" sz="5600" b="1" dirty="0">
                <a:latin typeface="Times New Roman" panose="02020603050405020304" pitchFamily="18" charset="0"/>
                <a:cs typeface="Times New Roman" panose="02020603050405020304" pitchFamily="18" charset="0"/>
              </a:rPr>
              <a:t>Boddu Guru Vignesh </a:t>
            </a:r>
            <a:r>
              <a:rPr lang="en-US" sz="5600" b="1" dirty="0"/>
              <a:t>(</a:t>
            </a:r>
            <a:r>
              <a:rPr lang="en-US" sz="5600" b="1" dirty="0">
                <a:latin typeface="Times New Roman" panose="02020603050405020304" pitchFamily="18" charset="0"/>
                <a:cs typeface="Times New Roman" panose="02020603050405020304" pitchFamily="18" charset="0"/>
              </a:rPr>
              <a:t>22BFA33286</a:t>
            </a:r>
            <a:r>
              <a:rPr lang="en-US" sz="5600" b="1" dirty="0"/>
              <a:t>)</a:t>
            </a:r>
            <a:endParaRPr lang="en-US" sz="5600" dirty="0"/>
          </a:p>
          <a:p>
            <a:pPr algn="ctr">
              <a:buNone/>
            </a:pPr>
            <a:endParaRPr lang="en-US" sz="5600" dirty="0"/>
          </a:p>
          <a:p>
            <a:pPr algn="ctr">
              <a:buNone/>
            </a:pPr>
            <a:r>
              <a:rPr lang="en-US" sz="5600" b="1" dirty="0"/>
              <a:t>Under the guidance of</a:t>
            </a:r>
            <a:endParaRPr lang="en-US" sz="5600" dirty="0"/>
          </a:p>
          <a:p>
            <a:pPr algn="ctr">
              <a:buNone/>
            </a:pPr>
            <a:r>
              <a:rPr lang="en-US" sz="5600" b="1" dirty="0"/>
              <a:t>Dr </a:t>
            </a:r>
            <a:r>
              <a:rPr lang="en-US" sz="5600" b="1" dirty="0" err="1"/>
              <a:t>P.Lokesh</a:t>
            </a:r>
            <a:r>
              <a:rPr lang="en-US" sz="5600" b="1" dirty="0"/>
              <a:t> Kumar Reddy</a:t>
            </a:r>
          </a:p>
          <a:p>
            <a:pPr algn="ctr">
              <a:buNone/>
            </a:pPr>
            <a:r>
              <a:rPr lang="en-US" sz="5600" b="1" dirty="0"/>
              <a:t>Designation</a:t>
            </a:r>
          </a:p>
          <a:p>
            <a:pPr algn="ctr">
              <a:buNone/>
            </a:pPr>
            <a:endParaRPr lang="en-US" b="1" dirty="0"/>
          </a:p>
          <a:p>
            <a:pPr algn="ctr">
              <a:buNone/>
            </a:pPr>
            <a:endParaRPr lang="en-US" b="1" dirty="0"/>
          </a:p>
          <a:p>
            <a:pPr algn="ctr">
              <a:buNone/>
            </a:pPr>
            <a:endParaRPr lang="en-US" b="1" dirty="0"/>
          </a:p>
          <a:p>
            <a:pPr algn="ctr">
              <a:buNone/>
            </a:pPr>
            <a:endParaRPr lang="en-US" b="1" dirty="0"/>
          </a:p>
          <a:p>
            <a:pPr algn="ctr">
              <a:buNone/>
            </a:pPr>
            <a:endParaRPr lang="en-US" dirty="0"/>
          </a:p>
          <a:p>
            <a:pPr algn="ctr">
              <a:buNone/>
            </a:pPr>
            <a:endParaRPr lang="en-US" b="1" dirty="0"/>
          </a:p>
          <a:p>
            <a:pPr algn="ctr">
              <a:buNone/>
            </a:pPr>
            <a:endParaRPr lang="en-US" sz="3800" b="1" dirty="0"/>
          </a:p>
          <a:p>
            <a:pPr algn="ctr">
              <a:buNone/>
            </a:pPr>
            <a:endParaRPr lang="en-US" sz="3800" b="1" dirty="0"/>
          </a:p>
          <a:p>
            <a:pPr algn="ctr">
              <a:buNone/>
            </a:pPr>
            <a:r>
              <a:rPr lang="en-US" sz="4800" b="1" dirty="0">
                <a:latin typeface="Times New Roman" panose="02020603050405020304" pitchFamily="18" charset="0"/>
                <a:cs typeface="Times New Roman" panose="02020603050405020304" pitchFamily="18" charset="0"/>
              </a:rPr>
              <a:t>DEPARTMENT OF COMPUTER SCIENCE AND ENGINEERING (AI &amp; ML) </a:t>
            </a:r>
            <a:endParaRPr lang="en-US" sz="4800" dirty="0">
              <a:latin typeface="Times New Roman" panose="02020603050405020304" pitchFamily="18" charset="0"/>
              <a:cs typeface="Times New Roman" panose="02020603050405020304" pitchFamily="18" charset="0"/>
            </a:endParaRPr>
          </a:p>
          <a:p>
            <a:pPr algn="ctr">
              <a:buNone/>
            </a:pPr>
            <a:r>
              <a:rPr lang="en-US" sz="7200" b="1" dirty="0">
                <a:latin typeface="Times New Roman" panose="02020603050405020304" pitchFamily="18" charset="0"/>
                <a:cs typeface="Times New Roman" panose="02020603050405020304" pitchFamily="18" charset="0"/>
              </a:rPr>
              <a:t>SRI VENKATESWARA COLLEGE OF ENGINEERING</a:t>
            </a:r>
          </a:p>
          <a:p>
            <a:pPr algn="ctr">
              <a:buNone/>
            </a:pPr>
            <a:r>
              <a:rPr lang="en-US" sz="5600" b="1" dirty="0"/>
              <a:t>(Autonomous)</a:t>
            </a:r>
            <a:endParaRPr lang="en-US" sz="5600" dirty="0"/>
          </a:p>
          <a:p>
            <a:pPr algn="ctr">
              <a:buNone/>
            </a:pPr>
            <a:r>
              <a:rPr lang="en-US" sz="5600" b="1" dirty="0"/>
              <a:t>Karakambadi Road, Tirupati-517507</a:t>
            </a:r>
            <a:endParaRPr lang="en-US" sz="5600" dirty="0"/>
          </a:p>
          <a:p>
            <a:pPr algn="ctr">
              <a:buNone/>
            </a:pPr>
            <a:r>
              <a:rPr lang="en-US" sz="5600" b="1" dirty="0"/>
              <a:t>2022-2026</a:t>
            </a:r>
            <a:endParaRPr lang="en-US" sz="5600" dirty="0"/>
          </a:p>
          <a:p>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48100" y="4114800"/>
            <a:ext cx="1333500" cy="1143000"/>
          </a:xfrm>
          <a:prstGeom prst="rect">
            <a:avLst/>
          </a:prstGeom>
        </p:spPr>
      </p:pic>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sz="quarter" idx="1"/>
          </p:nvPr>
        </p:nvSpPr>
        <p:spPr>
          <a:xfrm>
            <a:off x="612648" y="1600200"/>
            <a:ext cx="8153400" cy="4724400"/>
          </a:xfrm>
        </p:spPr>
        <p:txBody>
          <a:bodyPr>
            <a:normAutofit fontScale="92500" lnSpcReduction="10000"/>
          </a:bodyPr>
          <a:lstStyle/>
          <a:p>
            <a:pPr>
              <a:buFont typeface="Wingdings" panose="05000000000000000000" pitchFamily="2" charset="2"/>
              <a:buChar char="Ø"/>
            </a:pPr>
            <a:r>
              <a:rPr lang="en-US" dirty="0"/>
              <a:t>Abstract</a:t>
            </a:r>
          </a:p>
          <a:p>
            <a:pPr>
              <a:buFont typeface="Wingdings" panose="05000000000000000000" pitchFamily="2" charset="2"/>
              <a:buChar char="Ø"/>
            </a:pPr>
            <a:r>
              <a:rPr lang="en-US" dirty="0"/>
              <a:t>Introduction</a:t>
            </a:r>
          </a:p>
          <a:p>
            <a:pPr>
              <a:buFont typeface="Wingdings" panose="05000000000000000000" pitchFamily="2" charset="2"/>
              <a:buChar char="Ø"/>
            </a:pPr>
            <a:r>
              <a:rPr lang="en-US" dirty="0"/>
              <a:t>Problem  Statement </a:t>
            </a:r>
          </a:p>
          <a:p>
            <a:pPr>
              <a:buFont typeface="Wingdings" panose="05000000000000000000" pitchFamily="2" charset="2"/>
              <a:buChar char="Ø"/>
            </a:pPr>
            <a:r>
              <a:rPr lang="en-US" dirty="0"/>
              <a:t>Existing system</a:t>
            </a:r>
          </a:p>
          <a:p>
            <a:pPr>
              <a:buFont typeface="Wingdings" panose="05000000000000000000" pitchFamily="2" charset="2"/>
              <a:buChar char="Ø"/>
            </a:pPr>
            <a:r>
              <a:rPr lang="en-US" dirty="0"/>
              <a:t>Disadvantages</a:t>
            </a:r>
          </a:p>
          <a:p>
            <a:pPr>
              <a:buFont typeface="Wingdings" panose="05000000000000000000" pitchFamily="2" charset="2"/>
              <a:buChar char="Ø"/>
            </a:pPr>
            <a:r>
              <a:rPr lang="en-US" dirty="0"/>
              <a:t>Proposed system</a:t>
            </a:r>
          </a:p>
          <a:p>
            <a:pPr>
              <a:buFont typeface="Wingdings" panose="05000000000000000000" pitchFamily="2" charset="2"/>
              <a:buChar char="Ø"/>
            </a:pPr>
            <a:r>
              <a:rPr lang="en-US" dirty="0"/>
              <a:t>Advantages</a:t>
            </a:r>
          </a:p>
          <a:p>
            <a:pPr>
              <a:buFont typeface="Wingdings" panose="05000000000000000000" pitchFamily="2" charset="2"/>
              <a:buChar char="Ø"/>
            </a:pPr>
            <a:r>
              <a:rPr lang="en-US" dirty="0"/>
              <a:t>System Requirements</a:t>
            </a:r>
          </a:p>
          <a:p>
            <a:pPr>
              <a:buFont typeface="Wingdings" panose="05000000000000000000" pitchFamily="2" charset="2"/>
              <a:buChar char="Ø"/>
            </a:pPr>
            <a:r>
              <a:rPr lang="en-US" dirty="0"/>
              <a:t>Modules</a:t>
            </a:r>
          </a:p>
          <a:p>
            <a:pPr>
              <a:buFont typeface="Wingdings" panose="05000000000000000000" pitchFamily="2" charset="2"/>
              <a:buChar char="Ø"/>
            </a:pPr>
            <a:r>
              <a:rPr lang="en-US" dirty="0"/>
              <a:t>Architecture</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3112408762"/>
      </p:ext>
    </p:extLst>
  </p:cSld>
  <p:clrMapOvr>
    <a:masterClrMapping/>
  </p:clrMapOvr>
  <p:transition>
    <p:split orient="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ABSTRACT</a:t>
            </a:r>
            <a:endParaRPr lang="en-US" dirty="0">
              <a:latin typeface="Tw Cen MT (Headings)"/>
            </a:endParaRPr>
          </a:p>
        </p:txBody>
      </p:sp>
      <p:sp>
        <p:nvSpPr>
          <p:cNvPr id="3" name="Content Placeholder 2"/>
          <p:cNvSpPr>
            <a:spLocks noGrp="1"/>
          </p:cNvSpPr>
          <p:nvPr>
            <p:ph sz="quarter" idx="1"/>
          </p:nvPr>
        </p:nvSpPr>
        <p:spPr>
          <a:xfrm>
            <a:off x="533400" y="1600200"/>
            <a:ext cx="8232648" cy="4876800"/>
          </a:xfrm>
        </p:spPr>
        <p:txBody>
          <a:bodyPr vert="horz" lIns="91440" tIns="45720" rIns="91440" bIns="45720" anchor="t">
            <a:noAutofit/>
          </a:bodyPr>
          <a:lstStyle/>
          <a:p>
            <a:pPr>
              <a:buFont typeface="Wingdings" panose="05000000000000000000" pitchFamily="2" charset="2"/>
              <a:buChar char="Ø"/>
            </a:pPr>
            <a:r>
              <a:rPr lang="en-US" sz="1800" dirty="0"/>
              <a:t>Cerebral Palsy (CP) is a group of permanent neurological disorders that affect movement, posture, and muscle coordination, often caused by abnormal brain development or brain injury during early life.</a:t>
            </a:r>
          </a:p>
          <a:p>
            <a:pPr>
              <a:buFont typeface="Wingdings" panose="05000000000000000000" pitchFamily="2" charset="2"/>
              <a:buChar char="Ø"/>
            </a:pPr>
            <a:r>
              <a:rPr lang="en-US" sz="1800" dirty="0"/>
              <a:t> Early prediction of cerebral palsy in infants is critical, as timely intervention can significantly improve motor functions and quality of life. </a:t>
            </a:r>
          </a:p>
          <a:p>
            <a:pPr>
              <a:buFont typeface="Wingdings" panose="05000000000000000000" pitchFamily="2" charset="2"/>
              <a:buChar char="Ø"/>
            </a:pPr>
            <a:r>
              <a:rPr lang="en-US" sz="1800" dirty="0"/>
              <a:t>However, early diagnosis remains challenging due to subtle clinical signs in newborns and the variability in symptom progression. </a:t>
            </a:r>
          </a:p>
          <a:p>
            <a:pPr>
              <a:buFont typeface="Wingdings" panose="05000000000000000000" pitchFamily="2" charset="2"/>
              <a:buChar char="Ø"/>
            </a:pPr>
            <a:r>
              <a:rPr lang="en-US" sz="1800" dirty="0"/>
              <a:t>This project focuses on developing an intelligent prediction system using machine learning techniques to identify infants at high risk of cerebral palsy at an early stage.</a:t>
            </a:r>
          </a:p>
          <a:p>
            <a:pPr>
              <a:buFont typeface="Wingdings" panose="05000000000000000000" pitchFamily="2" charset="2"/>
              <a:buChar char="Ø"/>
            </a:pPr>
            <a:r>
              <a:rPr lang="en-US" sz="1800" dirty="0"/>
              <a:t>The proposed system integrates clinical data, neurodevelopmental assessments, and medical imaging features to build a predictive model capable of identifying CP risk with high accuracy. </a:t>
            </a:r>
          </a:p>
          <a:p>
            <a:pPr>
              <a:buFont typeface="Wingdings" panose="05000000000000000000" pitchFamily="2" charset="2"/>
              <a:buChar char="Ø"/>
            </a:pPr>
            <a:r>
              <a:rPr lang="en-US" sz="1800" dirty="0"/>
              <a:t>Advanced machine learning algorithms are employed to analyze complex patterns that are difficult for traditional methods to detect. </a:t>
            </a:r>
          </a:p>
        </p:txBody>
      </p:sp>
    </p:spTree>
    <p:extLst>
      <p:ext uri="{BB962C8B-B14F-4D97-AF65-F5344CB8AC3E}">
        <p14:creationId xmlns:p14="http://schemas.microsoft.com/office/powerpoint/2010/main" val="158282389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INTRODUCTION</a:t>
            </a:r>
            <a:endParaRPr lang="en-US" dirty="0">
              <a:latin typeface="Tw Cen MT (Headings)"/>
            </a:endParaRPr>
          </a:p>
        </p:txBody>
      </p:sp>
      <p:sp>
        <p:nvSpPr>
          <p:cNvPr id="3" name="Content Placeholder 2"/>
          <p:cNvSpPr>
            <a:spLocks noGrp="1"/>
          </p:cNvSpPr>
          <p:nvPr>
            <p:ph sz="quarter" idx="1"/>
          </p:nvPr>
        </p:nvSpPr>
        <p:spPr>
          <a:xfrm>
            <a:off x="409754" y="1600200"/>
            <a:ext cx="8324491" cy="4942936"/>
          </a:xfrm>
        </p:spPr>
        <p:txBody>
          <a:bodyPr vert="horz" lIns="91440" tIns="45720" rIns="91440" bIns="45720" anchor="t">
            <a:noAutofit/>
          </a:bodyPr>
          <a:lstStyle/>
          <a:p>
            <a:pPr algn="just">
              <a:buFont typeface="Wingdings" panose="05000000000000000000" pitchFamily="2" charset="2"/>
              <a:buChar char="Ø"/>
            </a:pPr>
            <a:r>
              <a:rPr lang="en-US" sz="1800" dirty="0">
                <a:ea typeface="+mn-lt"/>
                <a:cs typeface="+mn-lt"/>
              </a:rPr>
              <a:t>Cerebral Palsy (CP) is a lifelong neurological condition that affects posture, movement, and motor coordination. Early diagnosis—especially during the first few months of life—greatly improves the effectiveness of intervention programs and supports better long-term developmental outcomes.</a:t>
            </a:r>
          </a:p>
          <a:p>
            <a:pPr algn="just">
              <a:buFont typeface="Wingdings" panose="05000000000000000000" pitchFamily="2" charset="2"/>
              <a:buChar char="Ø"/>
            </a:pPr>
            <a:r>
              <a:rPr lang="en-US" sz="1800" dirty="0">
                <a:ea typeface="+mn-lt"/>
                <a:cs typeface="+mn-lt"/>
              </a:rPr>
              <a:t>Traditionally, CP diagnosis relies on clinical evaluation, neuroimaging, and General Movement Assessment (GMA). While GMA is highly sensitive, it requires trained experts, manual video interpretation, and is prone to variability and subjectivity.</a:t>
            </a:r>
            <a:endParaRPr lang="en-US" sz="1800" dirty="0"/>
          </a:p>
          <a:p>
            <a:pPr algn="just">
              <a:buFont typeface="Wingdings" panose="05000000000000000000" pitchFamily="2" charset="2"/>
              <a:buChar char="Ø"/>
            </a:pPr>
            <a:r>
              <a:rPr lang="en-US" sz="1800" dirty="0">
                <a:ea typeface="+mn-lt"/>
                <a:cs typeface="+mn-lt"/>
              </a:rPr>
              <a:t>By extracting skeletal </a:t>
            </a:r>
            <a:r>
              <a:rPr lang="en-US" sz="1800" dirty="0" err="1">
                <a:ea typeface="+mn-lt"/>
                <a:cs typeface="+mn-lt"/>
              </a:rPr>
              <a:t>keypoints</a:t>
            </a:r>
            <a:r>
              <a:rPr lang="en-US" sz="1800" dirty="0">
                <a:ea typeface="+mn-lt"/>
                <a:cs typeface="+mn-lt"/>
              </a:rPr>
              <a:t> from infant movement videos and analyzing their spatial–temporal patterns, deep learning models can identify subtle motor abnormalities that are difficult to detect manually. </a:t>
            </a:r>
            <a:endParaRPr lang="en-US" sz="1800" dirty="0"/>
          </a:p>
          <a:p>
            <a:pPr algn="just">
              <a:buFont typeface="Wingdings" panose="05000000000000000000" pitchFamily="2" charset="2"/>
              <a:buChar char="Ø"/>
            </a:pPr>
            <a:r>
              <a:rPr lang="en-US" sz="1800" dirty="0">
                <a:ea typeface="+mn-lt"/>
                <a:cs typeface="+mn-lt"/>
              </a:rPr>
              <a:t>To address these issues, the proposed project introduces a hybrid deep learning system that combines pose estimation, data preprocessing, and multi-model classification to predict CP risk in infants aged 3–5 months. </a:t>
            </a:r>
          </a:p>
          <a:p>
            <a:pPr algn="just">
              <a:buFont typeface="Wingdings" panose="05000000000000000000" pitchFamily="2" charset="2"/>
              <a:buChar char="Ø"/>
            </a:pPr>
            <a:r>
              <a:rPr lang="en-US" sz="1800" dirty="0">
                <a:ea typeface="+mn-lt"/>
                <a:cs typeface="+mn-lt"/>
              </a:rPr>
              <a:t>Using CNN-LSTM, CNN-GRU, and GCN-GRU hybrid models, along with majority voting techniques, the system aims to provide an accurate, objective, and reliable diagnostic tool. This approach supports early medical decision-making and enhances the potential for timely therapeutic interventions.</a:t>
            </a:r>
          </a:p>
        </p:txBody>
      </p:sp>
    </p:spTree>
    <p:extLst>
      <p:ext uri="{BB962C8B-B14F-4D97-AF65-F5344CB8AC3E}">
        <p14:creationId xmlns:p14="http://schemas.microsoft.com/office/powerpoint/2010/main" val="2712522348"/>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w Cen MT (Headings)"/>
                <a:cs typeface="Times New Roman" panose="02020603050405020304" pitchFamily="18" charset="0"/>
              </a:rPr>
              <a:t>PROBLEM STATEMENT</a:t>
            </a:r>
            <a:endParaRPr lang="en-US" dirty="0">
              <a:latin typeface="Tw Cen MT (Headings)"/>
            </a:endParaRPr>
          </a:p>
        </p:txBody>
      </p:sp>
      <p:sp>
        <p:nvSpPr>
          <p:cNvPr id="3" name="Content Placeholder 2"/>
          <p:cNvSpPr>
            <a:spLocks noGrp="1"/>
          </p:cNvSpPr>
          <p:nvPr>
            <p:ph sz="quarter" idx="1"/>
          </p:nvPr>
        </p:nvSpPr>
        <p:spPr/>
        <p:txBody>
          <a:bodyPr vert="horz" lIns="91440" tIns="45720" rIns="91440" bIns="45720" anchor="t">
            <a:normAutofit/>
          </a:bodyPr>
          <a:lstStyle/>
          <a:p>
            <a:pPr algn="just">
              <a:buFont typeface="Wingdings" panose="05000000000000000000" pitchFamily="2" charset="2"/>
              <a:buChar char="Ø"/>
            </a:pPr>
            <a:r>
              <a:rPr lang="en-US" sz="1800" dirty="0">
                <a:ea typeface="+mn-lt"/>
                <a:cs typeface="+mn-lt"/>
              </a:rPr>
              <a:t>Cerebral Palsy (CP) is often diagnosed late because early symptoms are subtle, vary widely among infants, and depend heavily on expert interpretation of movement behavior. Traditional assessment methods—such as manual observation of infant videos and General Movement Assessment (GMA)—are subjective, slow, and require highly trained specialists, making early screening inaccessible in many healthcare settings.</a:t>
            </a:r>
          </a:p>
          <a:p>
            <a:pPr algn="just">
              <a:buFont typeface="Wingdings" panose="05000000000000000000" pitchFamily="2" charset="2"/>
              <a:buChar char="Ø"/>
            </a:pPr>
            <a:r>
              <a:rPr lang="en-US" sz="1800" dirty="0">
                <a:ea typeface="+mn-lt"/>
                <a:cs typeface="+mn-lt"/>
              </a:rPr>
              <a:t>To overcome these challenges, there is a need for an automated, objective, and scalable system capable of analyzing infant movement in real time. By using pose estimation to extract skeletal </a:t>
            </a:r>
            <a:r>
              <a:rPr lang="en-US" sz="1800" dirty="0" err="1">
                <a:ea typeface="+mn-lt"/>
                <a:cs typeface="+mn-lt"/>
              </a:rPr>
              <a:t>keypoints</a:t>
            </a:r>
            <a:r>
              <a:rPr lang="en-US" sz="1800" dirty="0">
                <a:ea typeface="+mn-lt"/>
                <a:cs typeface="+mn-lt"/>
              </a:rPr>
              <a:t> from video data and applying hybrid deep learning models to classify abnormal motor patterns, the proposed solution aims to accurately predict early signs of CP and support clinicians in timely diagnosis and intervention.</a:t>
            </a:r>
          </a:p>
          <a:p>
            <a:pPr algn="just">
              <a:buFont typeface="Wingdings" panose="05000000000000000000" pitchFamily="2" charset="2"/>
              <a:buChar char="Ø"/>
            </a:pPr>
            <a:endParaRPr lang="en-US" sz="1800" dirty="0">
              <a:ea typeface="+mn-lt"/>
              <a:cs typeface="+mn-lt"/>
            </a:endParaRPr>
          </a:p>
        </p:txBody>
      </p:sp>
    </p:spTree>
    <p:extLst>
      <p:ext uri="{BB962C8B-B14F-4D97-AF65-F5344CB8AC3E}">
        <p14:creationId xmlns:p14="http://schemas.microsoft.com/office/powerpoint/2010/main" val="2608149480"/>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imes New Roman" panose="02020603050405020304" pitchFamily="18" charset="0"/>
              </a:rPr>
              <a:t>EXISTING SYSTEM</a:t>
            </a:r>
            <a:endParaRPr lang="en-US" dirty="0"/>
          </a:p>
        </p:txBody>
      </p:sp>
      <p:sp>
        <p:nvSpPr>
          <p:cNvPr id="3" name="Content Placeholder 2"/>
          <p:cNvSpPr>
            <a:spLocks noGrp="1"/>
          </p:cNvSpPr>
          <p:nvPr>
            <p:ph sz="quarter" idx="1"/>
          </p:nvPr>
        </p:nvSpPr>
        <p:spPr>
          <a:xfrm>
            <a:off x="381000" y="1600200"/>
            <a:ext cx="8153400" cy="4495800"/>
          </a:xfrm>
        </p:spPr>
        <p:txBody>
          <a:bodyPr vert="horz" lIns="91440" tIns="45720" rIns="91440" bIns="45720" anchor="t">
            <a:noAutofit/>
          </a:bodyPr>
          <a:lstStyle/>
          <a:p>
            <a:pPr algn="just">
              <a:buFont typeface="Wingdings" panose="05000000000000000000" pitchFamily="2" charset="2"/>
              <a:buChar char="Ø"/>
            </a:pPr>
            <a:r>
              <a:rPr lang="en-US" sz="1800" dirty="0"/>
              <a:t>In the existing system, cerebral palsy diagnosis primarily relies on clinical observation, neurological examinations, and developmental milestone tracking over time.</a:t>
            </a:r>
          </a:p>
          <a:p>
            <a:pPr algn="just">
              <a:buFont typeface="Wingdings" panose="05000000000000000000" pitchFamily="2" charset="2"/>
              <a:buChar char="Ø"/>
            </a:pPr>
            <a:r>
              <a:rPr lang="en-US" sz="1800" dirty="0"/>
              <a:t> Pediatric neurologists assess motor delays, abnormal muscle tone, reflex patterns, and posture to identify potential CP cases. </a:t>
            </a:r>
          </a:p>
          <a:p>
            <a:pPr algn="just">
              <a:buFont typeface="Wingdings" panose="05000000000000000000" pitchFamily="2" charset="2"/>
              <a:buChar char="Ø"/>
            </a:pPr>
            <a:r>
              <a:rPr lang="en-US" sz="1800" dirty="0"/>
              <a:t>Imaging techniques such as MRI and CT scans are used to observe brain abnormalities, but these are often conducted only after symptoms become evident.</a:t>
            </a:r>
          </a:p>
          <a:p>
            <a:pPr algn="just">
              <a:buFont typeface="Wingdings" panose="05000000000000000000" pitchFamily="2" charset="2"/>
              <a:buChar char="Ø"/>
            </a:pPr>
            <a:r>
              <a:rPr lang="en-US" sz="1800" dirty="0"/>
              <a:t>Despite their clinical value, existing methods suffer from delayed diagnosis, subjectivity, and dependence on specialist expertise. </a:t>
            </a:r>
          </a:p>
          <a:p>
            <a:pPr algn="just">
              <a:buFont typeface="Wingdings" panose="05000000000000000000" pitchFamily="2" charset="2"/>
              <a:buChar char="Ø"/>
            </a:pPr>
            <a:r>
              <a:rPr lang="en-US" sz="1800" dirty="0"/>
              <a:t>Early symptoms are often subtle and may be overlooked, leading to late intervention. </a:t>
            </a:r>
          </a:p>
          <a:p>
            <a:pPr algn="just">
              <a:buFont typeface="Wingdings" panose="05000000000000000000" pitchFamily="2" charset="2"/>
              <a:buChar char="Ø"/>
            </a:pPr>
            <a:r>
              <a:rPr lang="en-US" sz="1800" dirty="0"/>
              <a:t>Additionally, manual assessment processes are time-consuming and prone to human error, making it difficult to consistently identify high-risk infants during the critical early developmental window.</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1903410958"/>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DISADVANTAGES</a:t>
            </a:r>
            <a:endParaRPr lang="en-US" dirty="0"/>
          </a:p>
        </p:txBody>
      </p:sp>
      <p:sp>
        <p:nvSpPr>
          <p:cNvPr id="3" name="Content Placeholder 2"/>
          <p:cNvSpPr>
            <a:spLocks noGrp="1"/>
          </p:cNvSpPr>
          <p:nvPr>
            <p:ph sz="quarter" idx="1"/>
          </p:nvPr>
        </p:nvSpPr>
        <p:spPr>
          <a:xfrm>
            <a:off x="381000" y="1639430"/>
            <a:ext cx="8153400" cy="5185913"/>
          </a:xfrm>
        </p:spPr>
        <p:txBody>
          <a:bodyPr vert="horz" lIns="91440" tIns="45720" rIns="91440" bIns="45720" anchor="t">
            <a:noAutofit/>
          </a:bodyPr>
          <a:lstStyle/>
          <a:p>
            <a:pPr algn="just">
              <a:buFont typeface="Wingdings" panose="05000000000000000000" pitchFamily="2" charset="2"/>
              <a:buChar char="Ø"/>
            </a:pPr>
            <a:r>
              <a:rPr lang="en-US" sz="1800" dirty="0">
                <a:ea typeface="+mn-lt"/>
                <a:cs typeface="+mn-lt"/>
              </a:rPr>
              <a:t>Highly Subjective: Manual GMA depends on expert experience and may vary between evaluators.</a:t>
            </a:r>
          </a:p>
          <a:p>
            <a:pPr algn="just">
              <a:buFont typeface="Wingdings" panose="05000000000000000000" pitchFamily="2" charset="2"/>
              <a:buChar char="Ø"/>
            </a:pPr>
            <a:r>
              <a:rPr lang="en-US" sz="1800" dirty="0">
                <a:ea typeface="+mn-lt"/>
                <a:cs typeface="+mn-lt"/>
              </a:rPr>
              <a:t>Time-Consuming: Long video recordings and frame-by-frame analysis slow down diagnosis.</a:t>
            </a:r>
          </a:p>
          <a:p>
            <a:pPr algn="just">
              <a:buFont typeface="Wingdings" panose="05000000000000000000" pitchFamily="2" charset="2"/>
              <a:buChar char="Ø"/>
            </a:pPr>
            <a:r>
              <a:rPr lang="en-US" sz="1800" dirty="0">
                <a:ea typeface="+mn-lt"/>
                <a:cs typeface="+mn-lt"/>
              </a:rPr>
              <a:t>No Public-Friendly Tools: Most ML models are not deployed as web applications, limiting accessibility.</a:t>
            </a:r>
          </a:p>
          <a:p>
            <a:pPr algn="just">
              <a:buFont typeface="Wingdings" panose="05000000000000000000" pitchFamily="2" charset="2"/>
              <a:buChar char="Ø"/>
            </a:pPr>
            <a:r>
              <a:rPr lang="en-US" sz="1800" dirty="0">
                <a:ea typeface="+mn-lt"/>
                <a:cs typeface="+mn-lt"/>
              </a:rPr>
              <a:t>Low Scalability: Traditional assessments cannot be applied efficiently to large populations.</a:t>
            </a:r>
          </a:p>
          <a:p>
            <a:pPr algn="just">
              <a:buFont typeface="Wingdings" panose="05000000000000000000" pitchFamily="2" charset="2"/>
              <a:buChar char="Ø"/>
            </a:pPr>
            <a:r>
              <a:rPr lang="en-US" sz="1800" dirty="0">
                <a:ea typeface="+mn-lt"/>
                <a:cs typeface="+mn-lt"/>
              </a:rPr>
              <a:t>Pose Estimation Limitations: Existing approaches may use inaccurate or computationally heavy models.</a:t>
            </a:r>
          </a:p>
          <a:p>
            <a:pPr algn="just">
              <a:buFont typeface="Wingdings" panose="05000000000000000000" pitchFamily="2" charset="2"/>
              <a:buChar char="Ø"/>
            </a:pPr>
            <a:r>
              <a:rPr lang="en-US" sz="1800" dirty="0">
                <a:ea typeface="+mn-lt"/>
                <a:cs typeface="+mn-lt"/>
              </a:rPr>
              <a:t>Lack of Automated Analysis: Basic ML models fail to capture complex temporal–spatial movement patterns.</a:t>
            </a:r>
          </a:p>
          <a:p>
            <a:pPr algn="just">
              <a:buFont typeface="Wingdings" panose="05000000000000000000" pitchFamily="2" charset="2"/>
              <a:buChar char="Ø"/>
            </a:pPr>
            <a:r>
              <a:rPr lang="en-US" sz="1800" dirty="0">
                <a:ea typeface="+mn-lt"/>
                <a:cs typeface="+mn-lt"/>
              </a:rPr>
              <a:t>Inconsistent Detection: Misclassification due to noisy data, infants’ movement variability, or limited datasets.</a:t>
            </a:r>
          </a:p>
          <a:p>
            <a:pPr algn="just">
              <a:buFont typeface="Wingdings" panose="05000000000000000000" pitchFamily="2" charset="2"/>
              <a:buChar char="Ø"/>
            </a:pPr>
            <a:endParaRPr lang="en-US" sz="1800" dirty="0">
              <a:latin typeface="Tw Cen MT"/>
              <a:cs typeface="Times New Roman"/>
            </a:endParaRPr>
          </a:p>
        </p:txBody>
      </p:sp>
    </p:spTree>
    <p:extLst>
      <p:ext uri="{BB962C8B-B14F-4D97-AF65-F5344CB8AC3E}">
        <p14:creationId xmlns:p14="http://schemas.microsoft.com/office/powerpoint/2010/main" val="2792640325"/>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 </a:t>
            </a:r>
            <a:r>
              <a:rPr lang="en-US" dirty="0">
                <a:cs typeface="Times New Roman" panose="02020603050405020304" pitchFamily="18" charset="0"/>
              </a:rPr>
              <a:t>PROPOSED SYSTEM</a:t>
            </a:r>
            <a:endParaRPr lang="en-US" dirty="0"/>
          </a:p>
        </p:txBody>
      </p:sp>
      <p:sp>
        <p:nvSpPr>
          <p:cNvPr id="3" name="Content Placeholder 2"/>
          <p:cNvSpPr>
            <a:spLocks noGrp="1"/>
          </p:cNvSpPr>
          <p:nvPr>
            <p:ph sz="quarter" idx="1"/>
          </p:nvPr>
        </p:nvSpPr>
        <p:spPr>
          <a:xfrm>
            <a:off x="381000" y="1676400"/>
            <a:ext cx="8153400" cy="5372818"/>
          </a:xfrm>
        </p:spPr>
        <p:txBody>
          <a:bodyPr vert="horz" lIns="91440" tIns="45720" rIns="91440" bIns="45720" anchor="t">
            <a:noAutofit/>
          </a:bodyPr>
          <a:lstStyle/>
          <a:p>
            <a:pPr algn="just">
              <a:buFont typeface="Wingdings" panose="05000000000000000000" pitchFamily="2" charset="2"/>
              <a:buChar char="Ø"/>
            </a:pPr>
            <a:r>
              <a:rPr lang="en-US" sz="1800" dirty="0"/>
              <a:t>The proposed system introduces a machine learning-based predictive framework to identify the risk of cerebral palsy in infants at an early stage. </a:t>
            </a:r>
          </a:p>
          <a:p>
            <a:pPr algn="just">
              <a:buFont typeface="Wingdings" panose="05000000000000000000" pitchFamily="2" charset="2"/>
              <a:buChar char="Ø"/>
            </a:pPr>
            <a:r>
              <a:rPr lang="en-US" sz="1800" dirty="0"/>
              <a:t>The system uses structured clinical data, prenatal and perinatal history, infant motor assessments, and optional neuroimaging features to train predictive models. </a:t>
            </a:r>
          </a:p>
          <a:p>
            <a:pPr algn="just">
              <a:buFont typeface="Wingdings" panose="05000000000000000000" pitchFamily="2" charset="2"/>
              <a:buChar char="Ø"/>
            </a:pPr>
            <a:r>
              <a:rPr lang="en-US" sz="1800" dirty="0"/>
              <a:t>Algorithms such as Random Forest, Support Vector Machine, and Neural Networks are employed to capture complex relationships among risk factors.</a:t>
            </a:r>
          </a:p>
          <a:p>
            <a:pPr algn="just">
              <a:buFont typeface="Wingdings" panose="05000000000000000000" pitchFamily="2" charset="2"/>
              <a:buChar char="Ø"/>
            </a:pPr>
            <a:r>
              <a:rPr lang="en-US" sz="1800" dirty="0"/>
              <a:t>This intelligent system provides automated risk classification, categorizing infants as low-risk or high-risk for cerebral palsy.</a:t>
            </a:r>
          </a:p>
          <a:p>
            <a:pPr algn="just">
              <a:buFont typeface="Wingdings" panose="05000000000000000000" pitchFamily="2" charset="2"/>
              <a:buChar char="Ø"/>
            </a:pPr>
            <a:r>
              <a:rPr lang="en-US" sz="1800" dirty="0"/>
              <a:t> The predictive output assists clinicians in decision-making rather than replacing medical judgment. </a:t>
            </a:r>
          </a:p>
          <a:p>
            <a:pPr algn="just">
              <a:buFont typeface="Wingdings" panose="05000000000000000000" pitchFamily="2" charset="2"/>
              <a:buChar char="Ø"/>
            </a:pPr>
            <a:r>
              <a:rPr lang="en-US" sz="1800" dirty="0"/>
              <a:t>By enabling early identification, the proposed system supports timely therapeutic interventions, continuous monitoring, and improved long-term developmental outcomes for infants.</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44390653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ADVANTAGES</a:t>
            </a:r>
          </a:p>
        </p:txBody>
      </p:sp>
      <p:sp>
        <p:nvSpPr>
          <p:cNvPr id="3" name="Content Placeholder 2"/>
          <p:cNvSpPr>
            <a:spLocks noGrp="1"/>
          </p:cNvSpPr>
          <p:nvPr>
            <p:ph sz="quarter" idx="1"/>
          </p:nvPr>
        </p:nvSpPr>
        <p:spPr>
          <a:xfrm>
            <a:off x="381000" y="1600200"/>
            <a:ext cx="8153400" cy="4495800"/>
          </a:xfrm>
        </p:spPr>
        <p:txBody>
          <a:bodyPr vert="horz" lIns="91440" tIns="45720" rIns="91440" bIns="45720" anchor="t">
            <a:normAutofit/>
          </a:bodyPr>
          <a:lstStyle/>
          <a:p>
            <a:pPr algn="just">
              <a:buFont typeface="Wingdings" panose="05000000000000000000" pitchFamily="2" charset="2"/>
              <a:buChar char="Ø"/>
            </a:pPr>
            <a:r>
              <a:rPr lang="en-US" sz="1800" dirty="0"/>
              <a:t>One of the major advantages of the proposed system is early and accurate prediction, allowing intervention during the critical neuroplasticity phase of infant development.</a:t>
            </a:r>
          </a:p>
          <a:p>
            <a:pPr algn="just">
              <a:buFont typeface="Wingdings" panose="05000000000000000000" pitchFamily="2" charset="2"/>
              <a:buChar char="Ø"/>
            </a:pPr>
            <a:r>
              <a:rPr lang="en-US" sz="1800" dirty="0"/>
              <a:t> Machine learning models can analyze large volumes of medical data and uncover hidden patterns that traditional diagnostic approaches may miss.</a:t>
            </a:r>
          </a:p>
          <a:p>
            <a:pPr algn="just">
              <a:buFont typeface="Wingdings" panose="05000000000000000000" pitchFamily="2" charset="2"/>
              <a:buChar char="Ø"/>
            </a:pPr>
            <a:r>
              <a:rPr lang="en-US" sz="1800" dirty="0"/>
              <a:t> This improves diagnostic consistency and reduces reliance on subjective clinical interpretation.</a:t>
            </a:r>
          </a:p>
          <a:p>
            <a:pPr algn="just">
              <a:buFont typeface="Wingdings" panose="05000000000000000000" pitchFamily="2" charset="2"/>
              <a:buChar char="Ø"/>
            </a:pPr>
            <a:r>
              <a:rPr lang="en-US" sz="1800" dirty="0"/>
              <a:t>Another significant advantage is scalability and decision support. The system can be deployed in hospitals, neonatal care units, and rural healthcare centers to assist clinicians with limited specialist availability. </a:t>
            </a:r>
          </a:p>
          <a:p>
            <a:pPr algn="just">
              <a:buFont typeface="Wingdings" panose="05000000000000000000" pitchFamily="2" charset="2"/>
              <a:buChar char="Ø"/>
            </a:pPr>
            <a:r>
              <a:rPr lang="en-US" sz="1800" dirty="0"/>
              <a:t>It reduces diagnosis time, improves screening efficiency, and enhances overall healthcare delivery by providing data-driven insights for infant neurological assessment.</a:t>
            </a:r>
          </a:p>
          <a:p>
            <a:pPr algn="just">
              <a:buFont typeface="Wingdings" panose="05000000000000000000" pitchFamily="2" charset="2"/>
              <a:buChar char="Ø"/>
            </a:pPr>
            <a:endParaRPr lang="en-US" sz="1800" dirty="0"/>
          </a:p>
        </p:txBody>
      </p:sp>
    </p:spTree>
    <p:extLst>
      <p:ext uri="{BB962C8B-B14F-4D97-AF65-F5344CB8AC3E}">
        <p14:creationId xmlns:p14="http://schemas.microsoft.com/office/powerpoint/2010/main" val="663873597"/>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SYSTEM REQUIREMENTS</a:t>
            </a:r>
            <a:endParaRPr lang="en-US" dirty="0"/>
          </a:p>
        </p:txBody>
      </p:sp>
      <p:sp>
        <p:nvSpPr>
          <p:cNvPr id="3" name="Content Placeholder 2"/>
          <p:cNvSpPr>
            <a:spLocks noGrp="1"/>
          </p:cNvSpPr>
          <p:nvPr>
            <p:ph sz="quarter" idx="1"/>
          </p:nvPr>
        </p:nvSpPr>
        <p:spPr/>
        <p:txBody>
          <a:bodyPr vert="horz" lIns="91440" tIns="45720" rIns="91440" bIns="45720" anchor="t">
            <a:normAutofit/>
          </a:bodyPr>
          <a:lstStyle/>
          <a:p>
            <a:pPr marL="0" indent="0">
              <a:buNone/>
            </a:pPr>
            <a:r>
              <a:rPr lang="en-US" sz="2400" b="1" u="sng" dirty="0">
                <a:latin typeface="Tw Cen MT (Body)"/>
                <a:cs typeface="Times New Roman"/>
              </a:rPr>
              <a:t>Hardware Requirements </a:t>
            </a:r>
            <a:r>
              <a:rPr lang="en-US" sz="1800" b="1" u="sng" dirty="0">
                <a:latin typeface="Tw Cen MT (Body)"/>
                <a:cs typeface="Times New Roman"/>
              </a:rPr>
              <a:t>:</a:t>
            </a:r>
            <a:endParaRPr lang="en-US" sz="1800" dirty="0">
              <a:latin typeface="Tw Cen MT (Body)"/>
              <a:cs typeface="Times New Roman"/>
            </a:endParaRPr>
          </a:p>
          <a:p>
            <a:pPr marL="0" indent="0">
              <a:buNone/>
            </a:pPr>
            <a:br>
              <a:rPr lang="en-US" sz="1800" dirty="0">
                <a:latin typeface="Tw Cen MT (Body)"/>
                <a:cs typeface="Times New Roman" panose="02020603050405020304" pitchFamily="18" charset="0"/>
              </a:rPr>
            </a:br>
            <a:endParaRPr lang="en-US" sz="1800" dirty="0">
              <a:latin typeface="Tw Cen MT (Body)"/>
              <a:cs typeface="Times New Roman"/>
            </a:endParaRPr>
          </a:p>
        </p:txBody>
      </p:sp>
      <p:graphicFrame>
        <p:nvGraphicFramePr>
          <p:cNvPr id="4" name="Table 3">
            <a:extLst>
              <a:ext uri="{FF2B5EF4-FFF2-40B4-BE49-F238E27FC236}">
                <a16:creationId xmlns:a16="http://schemas.microsoft.com/office/drawing/2014/main" id="{D1EE1BA0-9988-85D4-5715-444F6C04BCA8}"/>
              </a:ext>
            </a:extLst>
          </p:cNvPr>
          <p:cNvGraphicFramePr>
            <a:graphicFrameLocks noGrp="1"/>
          </p:cNvGraphicFramePr>
          <p:nvPr>
            <p:extLst>
              <p:ext uri="{D42A27DB-BD31-4B8C-83A1-F6EECF244321}">
                <p14:modId xmlns:p14="http://schemas.microsoft.com/office/powerpoint/2010/main" val="867582052"/>
              </p:ext>
            </p:extLst>
          </p:nvPr>
        </p:nvGraphicFramePr>
        <p:xfrm>
          <a:off x="685800" y="2133600"/>
          <a:ext cx="6553200" cy="1854200"/>
        </p:xfrm>
        <a:graphic>
          <a:graphicData uri="http://schemas.openxmlformats.org/drawingml/2006/table">
            <a:tbl>
              <a:tblPr firstRow="1" bandRow="1">
                <a:tableStyleId>{2D5ABB26-0587-4C30-8999-92F81FD0307C}</a:tableStyleId>
              </a:tblPr>
              <a:tblGrid>
                <a:gridCol w="1526366">
                  <a:extLst>
                    <a:ext uri="{9D8B030D-6E8A-4147-A177-3AD203B41FA5}">
                      <a16:colId xmlns:a16="http://schemas.microsoft.com/office/drawing/2014/main" val="3058890252"/>
                    </a:ext>
                  </a:extLst>
                </a:gridCol>
                <a:gridCol w="5026834">
                  <a:extLst>
                    <a:ext uri="{9D8B030D-6E8A-4147-A177-3AD203B41FA5}">
                      <a16:colId xmlns:a16="http://schemas.microsoft.com/office/drawing/2014/main" val="2622257257"/>
                    </a:ext>
                  </a:extLst>
                </a:gridCol>
              </a:tblGrid>
              <a:tr h="370840">
                <a:tc>
                  <a:txBody>
                    <a:bodyPr/>
                    <a:lstStyle/>
                    <a:p>
                      <a:r>
                        <a:rPr lang="en-GB" dirty="0"/>
                        <a:t>Processor</a:t>
                      </a:r>
                      <a:endParaRPr lang="en-IN" dirty="0"/>
                    </a:p>
                  </a:txBody>
                  <a:tcPr/>
                </a:tc>
                <a:tc>
                  <a:txBody>
                    <a:bodyPr/>
                    <a:lstStyle/>
                    <a:p>
                      <a:r>
                        <a:rPr lang="en-US" sz="1800" dirty="0"/>
                        <a:t>: Intel Core i5 (6-core) or AMD Ryzen 5</a:t>
                      </a:r>
                      <a:endParaRPr lang="en-IN" dirty="0"/>
                    </a:p>
                  </a:txBody>
                  <a:tcPr/>
                </a:tc>
                <a:extLst>
                  <a:ext uri="{0D108BD9-81ED-4DB2-BD59-A6C34878D82A}">
                    <a16:rowId xmlns:a16="http://schemas.microsoft.com/office/drawing/2014/main" val="812742732"/>
                  </a:ext>
                </a:extLst>
              </a:tr>
              <a:tr h="370840">
                <a:tc>
                  <a:txBody>
                    <a:bodyPr/>
                    <a:lstStyle/>
                    <a:p>
                      <a:r>
                        <a:rPr lang="en-GB" dirty="0"/>
                        <a:t>RAM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 16 GB recommended (8 GB minimum).</a:t>
                      </a:r>
                      <a:endParaRPr lang="en-US" sz="1800" dirty="0">
                        <a:latin typeface="Tw Cen MT (Body)"/>
                        <a:ea typeface="+mn-lt"/>
                        <a:cs typeface="+mn-lt"/>
                      </a:endParaRPr>
                    </a:p>
                  </a:txBody>
                  <a:tcPr/>
                </a:tc>
                <a:extLst>
                  <a:ext uri="{0D108BD9-81ED-4DB2-BD59-A6C34878D82A}">
                    <a16:rowId xmlns:a16="http://schemas.microsoft.com/office/drawing/2014/main" val="226765449"/>
                  </a:ext>
                </a:extLst>
              </a:tr>
              <a:tr h="370840">
                <a:tc>
                  <a:txBody>
                    <a:bodyPr/>
                    <a:lstStyle/>
                    <a:p>
                      <a:r>
                        <a:rPr lang="en-GB" dirty="0"/>
                        <a:t>Hard Disk</a:t>
                      </a:r>
                      <a:endParaRPr lang="en-IN" dirty="0"/>
                    </a:p>
                  </a:txBody>
                  <a:tcPr/>
                </a:tc>
                <a:tc>
                  <a:txBody>
                    <a:bodyPr/>
                    <a:lstStyle/>
                    <a:p>
                      <a:r>
                        <a:rPr lang="en-GB" dirty="0"/>
                        <a:t>: 250 GB SSD</a:t>
                      </a:r>
                      <a:endParaRPr lang="en-IN" dirty="0"/>
                    </a:p>
                  </a:txBody>
                  <a:tcPr/>
                </a:tc>
                <a:extLst>
                  <a:ext uri="{0D108BD9-81ED-4DB2-BD59-A6C34878D82A}">
                    <a16:rowId xmlns:a16="http://schemas.microsoft.com/office/drawing/2014/main" val="1597536299"/>
                  </a:ext>
                </a:extLst>
              </a:tr>
              <a:tr h="370840">
                <a:tc>
                  <a:txBody>
                    <a:bodyPr/>
                    <a:lstStyle/>
                    <a:p>
                      <a:r>
                        <a:rPr lang="en-GB" dirty="0"/>
                        <a:t>Monitor</a:t>
                      </a:r>
                      <a:endParaRPr lang="en-IN" dirty="0"/>
                    </a:p>
                  </a:txBody>
                  <a:tcPr/>
                </a:tc>
                <a:tc>
                  <a:txBody>
                    <a:bodyPr/>
                    <a:lstStyle/>
                    <a:p>
                      <a:r>
                        <a:rPr lang="en-GB" dirty="0"/>
                        <a:t>: Standard Display</a:t>
                      </a:r>
                      <a:endParaRPr lang="en-IN" dirty="0"/>
                    </a:p>
                  </a:txBody>
                  <a:tcPr/>
                </a:tc>
                <a:extLst>
                  <a:ext uri="{0D108BD9-81ED-4DB2-BD59-A6C34878D82A}">
                    <a16:rowId xmlns:a16="http://schemas.microsoft.com/office/drawing/2014/main" val="2214830177"/>
                  </a:ext>
                </a:extLst>
              </a:tr>
              <a:tr h="370840">
                <a:tc>
                  <a:txBody>
                    <a:bodyPr/>
                    <a:lstStyle/>
                    <a:p>
                      <a:r>
                        <a:rPr lang="en-GB" dirty="0"/>
                        <a:t>GPU </a:t>
                      </a:r>
                      <a:endParaRPr lang="en-IN" dirty="0"/>
                    </a:p>
                  </a:txBody>
                  <a:tcPr/>
                </a:tc>
                <a:tc>
                  <a:txBody>
                    <a:bodyPr/>
                    <a:lstStyle/>
                    <a:p>
                      <a:r>
                        <a:rPr lang="en-GB" dirty="0"/>
                        <a:t>: NVIDIA GPU with CUDA Support</a:t>
                      </a:r>
                      <a:endParaRPr lang="en-IN" dirty="0"/>
                    </a:p>
                  </a:txBody>
                  <a:tcPr/>
                </a:tc>
                <a:extLst>
                  <a:ext uri="{0D108BD9-81ED-4DB2-BD59-A6C34878D82A}">
                    <a16:rowId xmlns:a16="http://schemas.microsoft.com/office/drawing/2014/main" val="3587551851"/>
                  </a:ext>
                </a:extLst>
              </a:tr>
            </a:tbl>
          </a:graphicData>
        </a:graphic>
      </p:graphicFrame>
    </p:spTree>
    <p:extLst>
      <p:ext uri="{BB962C8B-B14F-4D97-AF65-F5344CB8AC3E}">
        <p14:creationId xmlns:p14="http://schemas.microsoft.com/office/powerpoint/2010/main" val="1731182575"/>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Times New Roman" panose="02020603050405020304" pitchFamily="18" charset="0"/>
              </a:rPr>
              <a:t>SOFTWARE REQUIREMENTS</a:t>
            </a:r>
            <a:endParaRPr lang="en-US" dirty="0"/>
          </a:p>
        </p:txBody>
      </p:sp>
      <p:sp>
        <p:nvSpPr>
          <p:cNvPr id="3" name="Content Placeholder 2"/>
          <p:cNvSpPr>
            <a:spLocks noGrp="1"/>
          </p:cNvSpPr>
          <p:nvPr>
            <p:ph sz="quarter" idx="1"/>
          </p:nvPr>
        </p:nvSpPr>
        <p:spPr/>
        <p:txBody>
          <a:bodyPr vert="horz" lIns="91440" tIns="45720" rIns="91440" bIns="45720" anchor="t">
            <a:normAutofit/>
          </a:bodyPr>
          <a:lstStyle/>
          <a:p>
            <a:pPr marL="0" lvl="0" indent="0">
              <a:buNone/>
            </a:pPr>
            <a:endParaRPr lang="en-US" sz="2200" b="1" dirty="0">
              <a:latin typeface="Tw Cen MT (Body)"/>
            </a:endParaRPr>
          </a:p>
        </p:txBody>
      </p:sp>
      <p:graphicFrame>
        <p:nvGraphicFramePr>
          <p:cNvPr id="5" name="Table 4">
            <a:extLst>
              <a:ext uri="{FF2B5EF4-FFF2-40B4-BE49-F238E27FC236}">
                <a16:creationId xmlns:a16="http://schemas.microsoft.com/office/drawing/2014/main" id="{178701B8-8858-61AC-A9F5-7E3BA82B80E4}"/>
              </a:ext>
            </a:extLst>
          </p:cNvPr>
          <p:cNvGraphicFramePr>
            <a:graphicFrameLocks noGrp="1"/>
          </p:cNvGraphicFramePr>
          <p:nvPr>
            <p:extLst>
              <p:ext uri="{D42A27DB-BD31-4B8C-83A1-F6EECF244321}">
                <p14:modId xmlns:p14="http://schemas.microsoft.com/office/powerpoint/2010/main" val="2728320889"/>
              </p:ext>
            </p:extLst>
          </p:nvPr>
        </p:nvGraphicFramePr>
        <p:xfrm>
          <a:off x="612648" y="1600200"/>
          <a:ext cx="6096000" cy="2225040"/>
        </p:xfrm>
        <a:graphic>
          <a:graphicData uri="http://schemas.openxmlformats.org/drawingml/2006/table">
            <a:tbl>
              <a:tblPr firstRow="1" bandRow="1">
                <a:tableStyleId>{2D5ABB26-0587-4C30-8999-92F81FD0307C}</a:tableStyleId>
              </a:tblPr>
              <a:tblGrid>
                <a:gridCol w="2362200">
                  <a:extLst>
                    <a:ext uri="{9D8B030D-6E8A-4147-A177-3AD203B41FA5}">
                      <a16:colId xmlns:a16="http://schemas.microsoft.com/office/drawing/2014/main" val="2967722291"/>
                    </a:ext>
                  </a:extLst>
                </a:gridCol>
                <a:gridCol w="3733800">
                  <a:extLst>
                    <a:ext uri="{9D8B030D-6E8A-4147-A177-3AD203B41FA5}">
                      <a16:colId xmlns:a16="http://schemas.microsoft.com/office/drawing/2014/main" val="2910293422"/>
                    </a:ext>
                  </a:extLst>
                </a:gridCol>
              </a:tblGrid>
              <a:tr h="370840">
                <a:tc>
                  <a:txBody>
                    <a:bodyPr/>
                    <a:lstStyle/>
                    <a:p>
                      <a:r>
                        <a:rPr lang="en-GB" dirty="0"/>
                        <a:t>Operating System</a:t>
                      </a:r>
                      <a:endParaRPr lang="en-IN" dirty="0"/>
                    </a:p>
                  </a:txBody>
                  <a:tcPr/>
                </a:tc>
                <a:tc>
                  <a:txBody>
                    <a:bodyPr/>
                    <a:lstStyle/>
                    <a:p>
                      <a:r>
                        <a:rPr lang="en-GB" dirty="0"/>
                        <a:t>: Windows 10/11</a:t>
                      </a:r>
                      <a:endParaRPr lang="en-IN" dirty="0"/>
                    </a:p>
                  </a:txBody>
                  <a:tcPr/>
                </a:tc>
                <a:extLst>
                  <a:ext uri="{0D108BD9-81ED-4DB2-BD59-A6C34878D82A}">
                    <a16:rowId xmlns:a16="http://schemas.microsoft.com/office/drawing/2014/main" val="1168536292"/>
                  </a:ext>
                </a:extLst>
              </a:tr>
              <a:tr h="370840">
                <a:tc>
                  <a:txBody>
                    <a:bodyPr/>
                    <a:lstStyle/>
                    <a:p>
                      <a:r>
                        <a:rPr lang="en-GB" dirty="0"/>
                        <a:t>Programming Language</a:t>
                      </a:r>
                      <a:endParaRPr lang="en-IN" dirty="0"/>
                    </a:p>
                  </a:txBody>
                  <a:tcPr/>
                </a:tc>
                <a:tc>
                  <a:txBody>
                    <a:bodyPr/>
                    <a:lstStyle/>
                    <a:p>
                      <a:r>
                        <a:rPr lang="en-GB" dirty="0"/>
                        <a:t>: Python 3.8-3.11</a:t>
                      </a:r>
                      <a:endParaRPr lang="en-IN" dirty="0"/>
                    </a:p>
                  </a:txBody>
                  <a:tcPr/>
                </a:tc>
                <a:extLst>
                  <a:ext uri="{0D108BD9-81ED-4DB2-BD59-A6C34878D82A}">
                    <a16:rowId xmlns:a16="http://schemas.microsoft.com/office/drawing/2014/main" val="4218047413"/>
                  </a:ext>
                </a:extLst>
              </a:tr>
              <a:tr h="370840">
                <a:tc>
                  <a:txBody>
                    <a:bodyPr/>
                    <a:lstStyle/>
                    <a:p>
                      <a:r>
                        <a:rPr lang="en-GB" dirty="0"/>
                        <a:t>Web-Server</a:t>
                      </a:r>
                      <a:endParaRPr lang="en-IN" dirty="0"/>
                    </a:p>
                  </a:txBody>
                  <a:tcPr/>
                </a:tc>
                <a:tc>
                  <a:txBody>
                    <a:bodyPr/>
                    <a:lstStyle/>
                    <a:p>
                      <a:r>
                        <a:rPr lang="en-GB" dirty="0"/>
                        <a:t>: Flask Web Server</a:t>
                      </a:r>
                      <a:endParaRPr lang="en-IN" dirty="0"/>
                    </a:p>
                  </a:txBody>
                  <a:tcPr/>
                </a:tc>
                <a:extLst>
                  <a:ext uri="{0D108BD9-81ED-4DB2-BD59-A6C34878D82A}">
                    <a16:rowId xmlns:a16="http://schemas.microsoft.com/office/drawing/2014/main" val="2062688917"/>
                  </a:ext>
                </a:extLst>
              </a:tr>
              <a:tr h="370840">
                <a:tc>
                  <a:txBody>
                    <a:bodyPr/>
                    <a:lstStyle/>
                    <a:p>
                      <a:r>
                        <a:rPr lang="en-GB" dirty="0"/>
                        <a:t>Frontend</a:t>
                      </a:r>
                      <a:endParaRPr lang="en-IN" dirty="0"/>
                    </a:p>
                  </a:txBody>
                  <a:tcPr/>
                </a:tc>
                <a:tc>
                  <a:txBody>
                    <a:bodyPr/>
                    <a:lstStyle/>
                    <a:p>
                      <a:r>
                        <a:rPr lang="en-GB" dirty="0"/>
                        <a:t>: HTML, CSS, Java Script</a:t>
                      </a:r>
                      <a:endParaRPr lang="en-IN" dirty="0"/>
                    </a:p>
                  </a:txBody>
                  <a:tcPr/>
                </a:tc>
                <a:extLst>
                  <a:ext uri="{0D108BD9-81ED-4DB2-BD59-A6C34878D82A}">
                    <a16:rowId xmlns:a16="http://schemas.microsoft.com/office/drawing/2014/main" val="1822268746"/>
                  </a:ext>
                </a:extLst>
              </a:tr>
              <a:tr h="370840">
                <a:tc>
                  <a:txBody>
                    <a:bodyPr/>
                    <a:lstStyle/>
                    <a:p>
                      <a:r>
                        <a:rPr lang="en-GB" dirty="0"/>
                        <a:t>Backend</a:t>
                      </a:r>
                      <a:endParaRPr lang="en-IN" dirty="0"/>
                    </a:p>
                  </a:txBody>
                  <a:tcPr/>
                </a:tc>
                <a:tc>
                  <a:txBody>
                    <a:bodyPr/>
                    <a:lstStyle/>
                    <a:p>
                      <a:r>
                        <a:rPr lang="en-GB" dirty="0"/>
                        <a:t>: MySQL, flask</a:t>
                      </a:r>
                      <a:endParaRPr lang="en-IN" dirty="0"/>
                    </a:p>
                  </a:txBody>
                  <a:tcPr/>
                </a:tc>
                <a:extLst>
                  <a:ext uri="{0D108BD9-81ED-4DB2-BD59-A6C34878D82A}">
                    <a16:rowId xmlns:a16="http://schemas.microsoft.com/office/drawing/2014/main" val="265543331"/>
                  </a:ext>
                </a:extLst>
              </a:tr>
              <a:tr h="370840">
                <a:tc>
                  <a:txBody>
                    <a:bodyPr/>
                    <a:lstStyle/>
                    <a:p>
                      <a:r>
                        <a:rPr lang="en-GB" dirty="0"/>
                        <a:t>Deep Learning</a:t>
                      </a:r>
                      <a:endParaRPr lang="en-IN" dirty="0"/>
                    </a:p>
                  </a:txBody>
                  <a:tcPr/>
                </a:tc>
                <a:tc>
                  <a:txBody>
                    <a:bodyPr/>
                    <a:lstStyle/>
                    <a:p>
                      <a:r>
                        <a:rPr lang="en-GB" dirty="0"/>
                        <a:t>: </a:t>
                      </a:r>
                      <a:r>
                        <a:rPr lang="en-GB" dirty="0" err="1"/>
                        <a:t>Pytorch</a:t>
                      </a:r>
                      <a:endParaRPr lang="en-IN" dirty="0"/>
                    </a:p>
                  </a:txBody>
                  <a:tcPr/>
                </a:tc>
                <a:extLst>
                  <a:ext uri="{0D108BD9-81ED-4DB2-BD59-A6C34878D82A}">
                    <a16:rowId xmlns:a16="http://schemas.microsoft.com/office/drawing/2014/main" val="2721754307"/>
                  </a:ext>
                </a:extLst>
              </a:tr>
            </a:tbl>
          </a:graphicData>
        </a:graphic>
      </p:graphicFrame>
    </p:spTree>
    <p:extLst>
      <p:ext uri="{BB962C8B-B14F-4D97-AF65-F5344CB8AC3E}">
        <p14:creationId xmlns:p14="http://schemas.microsoft.com/office/powerpoint/2010/main" val="1523708175"/>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0FA04-8074-A898-2496-21D5C71AB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922448-1DC2-22B8-2738-24FF66DC8DD4}"/>
              </a:ext>
            </a:extLst>
          </p:cNvPr>
          <p:cNvSpPr>
            <a:spLocks noGrp="1"/>
          </p:cNvSpPr>
          <p:nvPr>
            <p:ph type="title"/>
          </p:nvPr>
        </p:nvSpPr>
        <p:spPr/>
        <p:txBody>
          <a:bodyPr vert="horz" lIns="91440" tIns="45720" rIns="91440" bIns="45720" anchor="ctr">
            <a:normAutofit/>
          </a:bodyPr>
          <a:lstStyle/>
          <a:p>
            <a:r>
              <a:rPr lang="en-US" dirty="0">
                <a:cs typeface="Times New Roman"/>
              </a:rPr>
              <a:t>MODULES</a:t>
            </a:r>
            <a:endParaRPr lang="en-US" dirty="0"/>
          </a:p>
        </p:txBody>
      </p:sp>
      <p:sp>
        <p:nvSpPr>
          <p:cNvPr id="6" name="TextBox 5">
            <a:extLst>
              <a:ext uri="{FF2B5EF4-FFF2-40B4-BE49-F238E27FC236}">
                <a16:creationId xmlns:a16="http://schemas.microsoft.com/office/drawing/2014/main" id="{B40ED208-393B-A489-E764-9D4896AB5D0A}"/>
              </a:ext>
            </a:extLst>
          </p:cNvPr>
          <p:cNvSpPr txBox="1"/>
          <p:nvPr/>
        </p:nvSpPr>
        <p:spPr>
          <a:xfrm>
            <a:off x="152400" y="1676400"/>
            <a:ext cx="8038380"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b="1" dirty="0"/>
              <a:t>Module 1: Data Collection Module</a:t>
            </a:r>
          </a:p>
          <a:p>
            <a:pPr marL="342900" indent="-342900" algn="just">
              <a:buClr>
                <a:schemeClr val="accent2"/>
              </a:buClr>
              <a:buFont typeface="Wingdings" panose="05000000000000000000" pitchFamily="2" charset="2"/>
              <a:buChar char="Ø"/>
            </a:pPr>
            <a:r>
              <a:rPr lang="en-US" sz="2200" dirty="0"/>
              <a:t>This module gathers infant-related data including prenatal history, birth details, Apgar scores, motor assessments, and neurological observations. </a:t>
            </a:r>
          </a:p>
          <a:p>
            <a:pPr marL="342900" indent="-342900" algn="just">
              <a:buClr>
                <a:schemeClr val="accent2"/>
              </a:buClr>
              <a:buFont typeface="Wingdings" panose="05000000000000000000" pitchFamily="2" charset="2"/>
              <a:buChar char="Ø"/>
            </a:pPr>
            <a:r>
              <a:rPr lang="en-US" sz="2200" dirty="0"/>
              <a:t>Data may be collected from hospital records, neonatal monitoring systems, and clinical evaluations.</a:t>
            </a:r>
          </a:p>
          <a:p>
            <a:pPr marL="342900" indent="-342900" algn="just">
              <a:buClr>
                <a:schemeClr val="accent2"/>
              </a:buClr>
              <a:buFont typeface="Wingdings" panose="05000000000000000000" pitchFamily="2" charset="2"/>
              <a:buChar char="Ø"/>
            </a:pPr>
            <a:r>
              <a:rPr lang="en-US" sz="2200" dirty="0"/>
              <a:t>The collected data is securely stored and prepared for preprocessing. </a:t>
            </a:r>
          </a:p>
          <a:p>
            <a:pPr marL="342900" indent="-342900" algn="just">
              <a:buClr>
                <a:schemeClr val="accent2"/>
              </a:buClr>
              <a:buFont typeface="Wingdings" panose="05000000000000000000" pitchFamily="2" charset="2"/>
              <a:buChar char="Ø"/>
            </a:pPr>
            <a:r>
              <a:rPr lang="en-US" sz="2200" dirty="0"/>
              <a:t>Proper anonymization and standardization techniques are applied to ensure data privacy and consistency across multiple healthcare sources.</a:t>
            </a:r>
          </a:p>
          <a:p>
            <a:pPr algn="just"/>
            <a:endParaRPr lang="en-US" sz="2200" dirty="0"/>
          </a:p>
        </p:txBody>
      </p:sp>
    </p:spTree>
    <p:extLst>
      <p:ext uri="{BB962C8B-B14F-4D97-AF65-F5344CB8AC3E}">
        <p14:creationId xmlns:p14="http://schemas.microsoft.com/office/powerpoint/2010/main" val="91182706"/>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6134B-1021-DF89-7FD5-7DDF736E9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5858F0-0214-3EF3-051F-DC78F414C3F7}"/>
              </a:ext>
            </a:extLst>
          </p:cNvPr>
          <p:cNvSpPr>
            <a:spLocks noGrp="1"/>
          </p:cNvSpPr>
          <p:nvPr>
            <p:ph type="title"/>
          </p:nvPr>
        </p:nvSpPr>
        <p:spPr/>
        <p:txBody>
          <a:bodyPr vert="horz" lIns="91440" tIns="45720" rIns="91440" bIns="45720" anchor="ctr">
            <a:normAutofit/>
          </a:bodyPr>
          <a:lstStyle/>
          <a:p>
            <a:r>
              <a:rPr lang="en-US" dirty="0"/>
              <a:t>Data Preprocessing Module</a:t>
            </a:r>
          </a:p>
        </p:txBody>
      </p:sp>
      <p:sp>
        <p:nvSpPr>
          <p:cNvPr id="6" name="TextBox 5">
            <a:extLst>
              <a:ext uri="{FF2B5EF4-FFF2-40B4-BE49-F238E27FC236}">
                <a16:creationId xmlns:a16="http://schemas.microsoft.com/office/drawing/2014/main" id="{34F0C39B-FD81-26DB-2A00-AC34797A4BC4}"/>
              </a:ext>
            </a:extLst>
          </p:cNvPr>
          <p:cNvSpPr txBox="1"/>
          <p:nvPr/>
        </p:nvSpPr>
        <p:spPr>
          <a:xfrm>
            <a:off x="381000" y="1752600"/>
            <a:ext cx="7404339"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Clr>
                <a:schemeClr val="accent2"/>
              </a:buClr>
              <a:buFont typeface="Wingdings" panose="05000000000000000000" pitchFamily="2" charset="2"/>
              <a:buChar char="Ø"/>
            </a:pPr>
            <a:r>
              <a:rPr lang="en-US" sz="2200" dirty="0"/>
              <a:t>This module cleans the collected data by handling missing values, removing outliers, and normalizing numerical features. </a:t>
            </a:r>
          </a:p>
          <a:p>
            <a:pPr marL="342900" indent="-342900" algn="just">
              <a:buClr>
                <a:schemeClr val="accent2"/>
              </a:buClr>
              <a:buFont typeface="Wingdings" panose="05000000000000000000" pitchFamily="2" charset="2"/>
              <a:buChar char="Ø"/>
            </a:pPr>
            <a:r>
              <a:rPr lang="en-US" sz="2200" dirty="0"/>
              <a:t>Categorical attributes are encoded to make them suitable for machine learning algorithms.</a:t>
            </a:r>
          </a:p>
          <a:p>
            <a:pPr marL="342900" indent="-342900" algn="just">
              <a:buClr>
                <a:schemeClr val="accent2"/>
              </a:buClr>
              <a:buFont typeface="Wingdings" panose="05000000000000000000" pitchFamily="2" charset="2"/>
              <a:buChar char="Ø"/>
            </a:pPr>
            <a:r>
              <a:rPr lang="en-US" sz="2200" dirty="0"/>
              <a:t>Feature selection techniques are applied to identify the most relevant risk factors influencing cerebral palsy prediction. </a:t>
            </a:r>
          </a:p>
          <a:p>
            <a:pPr marL="342900" indent="-342900" algn="just">
              <a:buClr>
                <a:schemeClr val="accent2"/>
              </a:buClr>
              <a:buFont typeface="Wingdings" panose="05000000000000000000" pitchFamily="2" charset="2"/>
              <a:buChar char="Ø"/>
            </a:pPr>
            <a:r>
              <a:rPr lang="en-US" sz="2200" dirty="0"/>
              <a:t>This improves model efficiency, reduces overfitting, and enhances overall prediction accuracy.</a:t>
            </a:r>
          </a:p>
          <a:p>
            <a:pPr marL="342900" indent="-342900" algn="just">
              <a:buClr>
                <a:schemeClr val="accent2"/>
              </a:buClr>
              <a:buFont typeface="Wingdings" panose="05000000000000000000" pitchFamily="2" charset="2"/>
              <a:buChar char="Ø"/>
            </a:pPr>
            <a:endParaRPr lang="en-US" sz="2200" dirty="0"/>
          </a:p>
          <a:p>
            <a:pPr marL="342900" indent="-342900" algn="just">
              <a:buClr>
                <a:schemeClr val="accent2"/>
              </a:buClr>
              <a:buFont typeface="Wingdings" panose="05000000000000000000" pitchFamily="2" charset="2"/>
              <a:buChar char="Ø"/>
            </a:pPr>
            <a:endParaRPr lang="en-US" sz="2200" b="1" dirty="0"/>
          </a:p>
        </p:txBody>
      </p:sp>
    </p:spTree>
    <p:extLst>
      <p:ext uri="{BB962C8B-B14F-4D97-AF65-F5344CB8AC3E}">
        <p14:creationId xmlns:p14="http://schemas.microsoft.com/office/powerpoint/2010/main" val="4173023174"/>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87FD8-5C08-F23C-9B24-41C55B525C17}"/>
              </a:ext>
            </a:extLst>
          </p:cNvPr>
          <p:cNvSpPr>
            <a:spLocks noGrp="1"/>
          </p:cNvSpPr>
          <p:nvPr>
            <p:ph type="title"/>
          </p:nvPr>
        </p:nvSpPr>
        <p:spPr/>
        <p:txBody>
          <a:bodyPr>
            <a:normAutofit fontScale="90000"/>
          </a:bodyPr>
          <a:lstStyle/>
          <a:p>
            <a:r>
              <a:rPr lang="en-US" dirty="0"/>
              <a:t>Feature Extraction and Analysis Module</a:t>
            </a:r>
            <a:endParaRPr lang="en-IN" dirty="0"/>
          </a:p>
        </p:txBody>
      </p:sp>
      <p:sp>
        <p:nvSpPr>
          <p:cNvPr id="3" name="Content Placeholder 2">
            <a:extLst>
              <a:ext uri="{FF2B5EF4-FFF2-40B4-BE49-F238E27FC236}">
                <a16:creationId xmlns:a16="http://schemas.microsoft.com/office/drawing/2014/main" id="{212A20B3-8155-C4BE-A41B-A73A0E70DEAF}"/>
              </a:ext>
            </a:extLst>
          </p:cNvPr>
          <p:cNvSpPr>
            <a:spLocks noGrp="1"/>
          </p:cNvSpPr>
          <p:nvPr>
            <p:ph sz="quarter" idx="1"/>
          </p:nvPr>
        </p:nvSpPr>
        <p:spPr>
          <a:xfrm>
            <a:off x="495300" y="1752600"/>
            <a:ext cx="8153400" cy="4495800"/>
          </a:xfrm>
        </p:spPr>
        <p:txBody>
          <a:bodyPr>
            <a:normAutofit/>
          </a:bodyPr>
          <a:lstStyle/>
          <a:p>
            <a:pPr algn="just">
              <a:buFont typeface="Wingdings" panose="05000000000000000000" pitchFamily="2" charset="2"/>
              <a:buChar char="Ø"/>
            </a:pPr>
            <a:r>
              <a:rPr lang="en-US" sz="2200" dirty="0"/>
              <a:t>In this module, meaningful features are extracted from clinical and developmental datasets. </a:t>
            </a:r>
          </a:p>
          <a:p>
            <a:pPr algn="just">
              <a:buFont typeface="Wingdings" panose="05000000000000000000" pitchFamily="2" charset="2"/>
              <a:buChar char="Ø"/>
            </a:pPr>
            <a:r>
              <a:rPr lang="en-US" sz="2200" dirty="0"/>
              <a:t>Statistical analysis and correlation methods are used to understand relationships between different infant health indicators.</a:t>
            </a:r>
          </a:p>
          <a:p>
            <a:pPr algn="just">
              <a:buFont typeface="Wingdings" panose="05000000000000000000" pitchFamily="2" charset="2"/>
              <a:buChar char="Ø"/>
            </a:pPr>
            <a:r>
              <a:rPr lang="en-US" sz="2200" dirty="0"/>
              <a:t>Advanced feature engineering techniques transform raw medical data into structured inputs suitable for predictive modeling. </a:t>
            </a:r>
          </a:p>
          <a:p>
            <a:pPr algn="just">
              <a:buFont typeface="Wingdings" panose="05000000000000000000" pitchFamily="2" charset="2"/>
              <a:buChar char="Ø"/>
            </a:pPr>
            <a:r>
              <a:rPr lang="en-US" sz="2200" dirty="0"/>
              <a:t>This step plays a crucial role in improving the robustness and reliability of the prediction system.</a:t>
            </a:r>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114395683"/>
      </p:ext>
    </p:extLst>
  </p:cSld>
  <p:clrMapOvr>
    <a:masterClrMapping/>
  </p:clrMapOvr>
  <p:transition>
    <p:split orient="ver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4B1EE-8A6D-0CFA-BF82-B26FEC4D4243}"/>
              </a:ext>
            </a:extLst>
          </p:cNvPr>
          <p:cNvSpPr>
            <a:spLocks noGrp="1"/>
          </p:cNvSpPr>
          <p:nvPr>
            <p:ph type="title"/>
          </p:nvPr>
        </p:nvSpPr>
        <p:spPr/>
        <p:txBody>
          <a:bodyPr>
            <a:normAutofit fontScale="90000"/>
          </a:bodyPr>
          <a:lstStyle/>
          <a:p>
            <a:r>
              <a:rPr lang="en-US" dirty="0"/>
              <a:t>Machine Learning Model Training Module</a:t>
            </a:r>
            <a:endParaRPr lang="en-IN" dirty="0"/>
          </a:p>
        </p:txBody>
      </p:sp>
      <p:sp>
        <p:nvSpPr>
          <p:cNvPr id="3" name="Content Placeholder 2">
            <a:extLst>
              <a:ext uri="{FF2B5EF4-FFF2-40B4-BE49-F238E27FC236}">
                <a16:creationId xmlns:a16="http://schemas.microsoft.com/office/drawing/2014/main" id="{19CDF507-F652-2253-9B95-55787B4E312A}"/>
              </a:ext>
            </a:extLst>
          </p:cNvPr>
          <p:cNvSpPr>
            <a:spLocks noGrp="1"/>
          </p:cNvSpPr>
          <p:nvPr>
            <p:ph sz="quarter" idx="1"/>
          </p:nvPr>
        </p:nvSpPr>
        <p:spPr/>
        <p:txBody>
          <a:bodyPr>
            <a:normAutofit/>
          </a:bodyPr>
          <a:lstStyle/>
          <a:p>
            <a:pPr algn="just">
              <a:buFont typeface="Wingdings" panose="05000000000000000000" pitchFamily="2" charset="2"/>
              <a:buChar char="Ø"/>
            </a:pPr>
            <a:r>
              <a:rPr lang="en-US" sz="2200" dirty="0"/>
              <a:t>This module trains multiple machine learning models using the processed dataset. </a:t>
            </a:r>
          </a:p>
          <a:p>
            <a:pPr algn="just">
              <a:buFont typeface="Wingdings" panose="05000000000000000000" pitchFamily="2" charset="2"/>
              <a:buChar char="Ø"/>
            </a:pPr>
            <a:r>
              <a:rPr lang="en-US" sz="2200" dirty="0"/>
              <a:t>Algorithms such as Logistic Regression, CNN, SVM, and Bidirectional LSTM (</a:t>
            </a:r>
            <a:r>
              <a:rPr lang="en-US" sz="2200" dirty="0" err="1"/>
              <a:t>BiLSTM</a:t>
            </a:r>
            <a:r>
              <a:rPr lang="en-US" sz="2200" dirty="0"/>
              <a:t>) are evaluated to determine the best-performing model.</a:t>
            </a:r>
          </a:p>
          <a:p>
            <a:pPr algn="just">
              <a:buFont typeface="Wingdings" panose="05000000000000000000" pitchFamily="2" charset="2"/>
              <a:buChar char="Ø"/>
            </a:pPr>
            <a:r>
              <a:rPr lang="en-US" sz="2200" dirty="0"/>
              <a:t>Cross-validation and performance metrics like accuracy, precision, recall, and F1-score are used to assess model effectiveness. </a:t>
            </a:r>
          </a:p>
          <a:p>
            <a:pPr algn="just">
              <a:buFont typeface="Wingdings" panose="05000000000000000000" pitchFamily="2" charset="2"/>
              <a:buChar char="Ø"/>
            </a:pPr>
            <a:r>
              <a:rPr lang="en-US" sz="2200" dirty="0"/>
              <a:t>The optimal model is selected for deployment based on predictive performance.</a:t>
            </a:r>
          </a:p>
          <a:p>
            <a:pPr algn="just">
              <a:buFont typeface="Wingdings" panose="05000000000000000000" pitchFamily="2" charset="2"/>
              <a:buChar char="Ø"/>
            </a:pPr>
            <a:endParaRPr lang="en-US" sz="2200" dirty="0"/>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3009538934"/>
      </p:ext>
    </p:extLst>
  </p:cSld>
  <p:clrMapOvr>
    <a:masterClrMapping/>
  </p:clrMapOvr>
  <p:transition>
    <p:split orient="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99A1C-6EFC-75FE-0144-825895EEB63E}"/>
              </a:ext>
            </a:extLst>
          </p:cNvPr>
          <p:cNvSpPr>
            <a:spLocks noGrp="1"/>
          </p:cNvSpPr>
          <p:nvPr>
            <p:ph type="title"/>
          </p:nvPr>
        </p:nvSpPr>
        <p:spPr/>
        <p:txBody>
          <a:bodyPr>
            <a:normAutofit fontScale="90000"/>
          </a:bodyPr>
          <a:lstStyle/>
          <a:p>
            <a:r>
              <a:rPr lang="en-US" dirty="0"/>
              <a:t>Prediction and Decision Support Module</a:t>
            </a:r>
            <a:endParaRPr lang="en-IN" dirty="0"/>
          </a:p>
        </p:txBody>
      </p:sp>
      <p:sp>
        <p:nvSpPr>
          <p:cNvPr id="3" name="Content Placeholder 2">
            <a:extLst>
              <a:ext uri="{FF2B5EF4-FFF2-40B4-BE49-F238E27FC236}">
                <a16:creationId xmlns:a16="http://schemas.microsoft.com/office/drawing/2014/main" id="{2C112AB2-1857-2BE6-9659-14E4680385F8}"/>
              </a:ext>
            </a:extLst>
          </p:cNvPr>
          <p:cNvSpPr>
            <a:spLocks noGrp="1"/>
          </p:cNvSpPr>
          <p:nvPr>
            <p:ph sz="quarter" idx="1"/>
          </p:nvPr>
        </p:nvSpPr>
        <p:spPr/>
        <p:txBody>
          <a:bodyPr>
            <a:normAutofit/>
          </a:bodyPr>
          <a:lstStyle/>
          <a:p>
            <a:pPr algn="just">
              <a:buFont typeface="Wingdings" panose="05000000000000000000" pitchFamily="2" charset="2"/>
              <a:buChar char="Ø"/>
            </a:pPr>
            <a:r>
              <a:rPr lang="en-US" sz="2200" dirty="0"/>
              <a:t>This module provides real-time prediction results for new infant data. </a:t>
            </a:r>
          </a:p>
          <a:p>
            <a:pPr algn="just">
              <a:buFont typeface="Wingdings" panose="05000000000000000000" pitchFamily="2" charset="2"/>
              <a:buChar char="Ø"/>
            </a:pPr>
            <a:r>
              <a:rPr lang="en-US" sz="2200" dirty="0"/>
              <a:t>The trained model classifies infants into risk categories and generates alerts for high-risk cases.</a:t>
            </a:r>
          </a:p>
          <a:p>
            <a:pPr algn="just">
              <a:buFont typeface="Wingdings" panose="05000000000000000000" pitchFamily="2" charset="2"/>
              <a:buChar char="Ø"/>
            </a:pPr>
            <a:r>
              <a:rPr lang="en-US" sz="2200" dirty="0"/>
              <a:t>The system presents results through a user-friendly interface for clinicians, enabling easy interpretation and follow-up planning. </a:t>
            </a:r>
          </a:p>
          <a:p>
            <a:pPr algn="just">
              <a:buFont typeface="Wingdings" panose="05000000000000000000" pitchFamily="2" charset="2"/>
              <a:buChar char="Ø"/>
            </a:pPr>
            <a:r>
              <a:rPr lang="en-US" sz="2200" dirty="0"/>
              <a:t>This module supports early diagnosis, continuous monitoring, and informed clinical decision-making.</a:t>
            </a:r>
          </a:p>
          <a:p>
            <a:pPr algn="just">
              <a:buFont typeface="Wingdings" panose="05000000000000000000" pitchFamily="2" charset="2"/>
              <a:buChar char="Ø"/>
            </a:pPr>
            <a:endParaRPr lang="en-IN" sz="2200" dirty="0"/>
          </a:p>
        </p:txBody>
      </p:sp>
    </p:spTree>
    <p:extLst>
      <p:ext uri="{BB962C8B-B14F-4D97-AF65-F5344CB8AC3E}">
        <p14:creationId xmlns:p14="http://schemas.microsoft.com/office/powerpoint/2010/main" val="813464540"/>
      </p:ext>
    </p:extLst>
  </p:cSld>
  <p:clrMapOvr>
    <a:masterClrMapping/>
  </p:clrMapOvr>
  <p:transition>
    <p:split orient="ver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1010A-8496-4AED-2A71-91C2BD7BFEAF}"/>
              </a:ext>
            </a:extLst>
          </p:cNvPr>
          <p:cNvSpPr>
            <a:spLocks noGrp="1"/>
          </p:cNvSpPr>
          <p:nvPr>
            <p:ph type="title"/>
          </p:nvPr>
        </p:nvSpPr>
        <p:spPr/>
        <p:txBody>
          <a:bodyPr>
            <a:normAutofit/>
          </a:bodyPr>
          <a:lstStyle/>
          <a:p>
            <a:r>
              <a:rPr lang="en-IN" dirty="0"/>
              <a:t>ARCHITECTURE</a:t>
            </a:r>
          </a:p>
        </p:txBody>
      </p:sp>
      <p:pic>
        <p:nvPicPr>
          <p:cNvPr id="4" name="Picture 2">
            <a:extLst>
              <a:ext uri="{FF2B5EF4-FFF2-40B4-BE49-F238E27FC236}">
                <a16:creationId xmlns:a16="http://schemas.microsoft.com/office/drawing/2014/main" id="{67C3E386-408C-2900-7A35-87BAC5DE9CAC}"/>
              </a:ext>
            </a:extLst>
          </p:cNvPr>
          <p:cNvPicPr>
            <a:picLocks noGrp="1" noChangeAspect="1" noChangeArrowheads="1"/>
          </p:cNvPicPr>
          <p:nvPr>
            <p:ph sz="quarter" idx="1"/>
          </p:nvPr>
        </p:nvPicPr>
        <p:blipFill>
          <a:blip r:embed="rId2"/>
          <a:srcRect/>
          <a:stretch>
            <a:fillRect/>
          </a:stretch>
        </p:blipFill>
        <p:spPr bwMode="auto">
          <a:xfrm>
            <a:off x="612775" y="1993833"/>
            <a:ext cx="8153400" cy="3708534"/>
          </a:xfrm>
          <a:prstGeom prst="rect">
            <a:avLst/>
          </a:prstGeom>
          <a:noFill/>
          <a:ln w="9525">
            <a:noFill/>
            <a:miter lim="800000"/>
            <a:headEnd/>
            <a:tailEnd/>
          </a:ln>
          <a:effectLst/>
        </p:spPr>
      </p:pic>
    </p:spTree>
    <p:extLst>
      <p:ext uri="{BB962C8B-B14F-4D97-AF65-F5344CB8AC3E}">
        <p14:creationId xmlns:p14="http://schemas.microsoft.com/office/powerpoint/2010/main" val="3742852979"/>
      </p:ext>
    </p:extLst>
  </p:cSld>
  <p:clrMapOvr>
    <a:masterClrMapping/>
  </p:clrMapOvr>
  <p:transition>
    <p:split orient="ver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224DA-C36B-1A93-88CB-34AC820379FF}"/>
              </a:ext>
            </a:extLst>
          </p:cNvPr>
          <p:cNvSpPr>
            <a:spLocks noGrp="1"/>
          </p:cNvSpPr>
          <p:nvPr>
            <p:ph type="title"/>
          </p:nvPr>
        </p:nvSpPr>
        <p:spPr/>
        <p:txBody>
          <a:bodyPr/>
          <a:lstStyle/>
          <a:p>
            <a:r>
              <a:rPr lang="en-IN" dirty="0"/>
              <a:t>SEQUENCE DIAGRAM</a:t>
            </a:r>
          </a:p>
        </p:txBody>
      </p:sp>
      <p:pic>
        <p:nvPicPr>
          <p:cNvPr id="5" name="Picture 4">
            <a:extLst>
              <a:ext uri="{FF2B5EF4-FFF2-40B4-BE49-F238E27FC236}">
                <a16:creationId xmlns:a16="http://schemas.microsoft.com/office/drawing/2014/main" id="{840A0ED1-8833-E56E-9348-88E061866394}"/>
              </a:ext>
            </a:extLst>
          </p:cNvPr>
          <p:cNvPicPr>
            <a:picLocks noChangeAspect="1"/>
          </p:cNvPicPr>
          <p:nvPr/>
        </p:nvPicPr>
        <p:blipFill>
          <a:blip r:embed="rId2"/>
          <a:stretch>
            <a:fillRect/>
          </a:stretch>
        </p:blipFill>
        <p:spPr>
          <a:xfrm>
            <a:off x="381000" y="1667070"/>
            <a:ext cx="8458200" cy="4276530"/>
          </a:xfrm>
          <a:prstGeom prst="rect">
            <a:avLst/>
          </a:prstGeom>
        </p:spPr>
      </p:pic>
    </p:spTree>
    <p:extLst>
      <p:ext uri="{BB962C8B-B14F-4D97-AF65-F5344CB8AC3E}">
        <p14:creationId xmlns:p14="http://schemas.microsoft.com/office/powerpoint/2010/main" val="2274980700"/>
      </p:ext>
    </p:extLst>
  </p:cSld>
  <p:clrMapOvr>
    <a:masterClrMapping/>
  </p:clrMapOvr>
  <p:transition>
    <p:split orient="ver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thankyou.jpg"/>
          <p:cNvPicPr>
            <a:picLocks noChangeAspect="1"/>
          </p:cNvPicPr>
          <p:nvPr/>
        </p:nvPicPr>
        <p:blipFill>
          <a:blip r:embed="rId2" cstate="print"/>
          <a:stretch>
            <a:fillRect/>
          </a:stretch>
        </p:blipFill>
        <p:spPr>
          <a:xfrm>
            <a:off x="1" y="0"/>
            <a:ext cx="9144000" cy="6858000"/>
          </a:xfrm>
          <a:prstGeom prst="rect">
            <a:avLst/>
          </a:prstGeom>
        </p:spPr>
      </p:pic>
    </p:spTree>
  </p:cSld>
  <p:clrMapOvr>
    <a:masterClrMapping/>
  </p:clrMapOvr>
  <p:transition>
    <p:split orient="vert"/>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652</TotalTime>
  <Words>1511</Words>
  <Application>Microsoft Office PowerPoint</Application>
  <PresentationFormat>On-screen Show (4:3)</PresentationFormat>
  <Paragraphs>135</Paragraphs>
  <Slides>19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Calibri</vt:lpstr>
      <vt:lpstr>Times New Roman</vt:lpstr>
      <vt:lpstr>Tw Cen MT</vt:lpstr>
      <vt:lpstr>Tw Cen MT (Body)</vt:lpstr>
      <vt:lpstr>Tw Cen MT (Headings)</vt:lpstr>
      <vt:lpstr>Wingdings</vt:lpstr>
      <vt:lpstr>Wingdings 2</vt:lpstr>
      <vt:lpstr>Median</vt:lpstr>
      <vt:lpstr>The Prediction of Cerebral Palsy in Infants</vt:lpstr>
      <vt:lpstr>OUTLINE</vt:lpstr>
      <vt:lpstr>ABSTRACT</vt:lpstr>
      <vt:lpstr>INTRODUCTION</vt:lpstr>
      <vt:lpstr>PROBLEM STATEMENT</vt:lpstr>
      <vt:lpstr>EXISTING SYSTEM</vt:lpstr>
      <vt:lpstr>DISADVANTAGES</vt:lpstr>
      <vt:lpstr> PROPOSED SYSTEM</vt:lpstr>
      <vt:lpstr>ADVANTAGES</vt:lpstr>
      <vt:lpstr>SYSTEM REQUIREMENTS</vt:lpstr>
      <vt:lpstr>SOFTWARE REQUIREMENTS</vt:lpstr>
      <vt:lpstr>MODULES</vt:lpstr>
      <vt:lpstr>Data Preprocessing Module</vt:lpstr>
      <vt:lpstr>Feature Extraction and Analysis Module</vt:lpstr>
      <vt:lpstr>Machine Learning Model Training Module</vt:lpstr>
      <vt:lpstr>Prediction and Decision Support Module</vt:lpstr>
      <vt:lpstr>ARCHITECTURE</vt:lpstr>
      <vt:lpstr>SEQUENCE DIAGRAM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Mona: Secure Multi-Owner Data Sharing for Dynamic Groups in the Cloud</dc:title>
  <dc:creator>MSM Technologies</dc:creator>
  <cp:lastModifiedBy>Rohith Sai</cp:lastModifiedBy>
  <cp:revision>478</cp:revision>
  <dcterms:created xsi:type="dcterms:W3CDTF">2006-08-16T00:00:00Z</dcterms:created>
  <dcterms:modified xsi:type="dcterms:W3CDTF">2026-01-30T14:18:05Z</dcterms:modified>
</cp:coreProperties>
</file>